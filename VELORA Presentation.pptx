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libri (MS)" panose="020B0604020202020204" charset="0"/>
      <p:regular r:id="rId27"/>
    </p:embeddedFont>
    <p:embeddedFont>
      <p:font typeface="Calibri (MS) Bold" panose="020B0604020202020204" charset="0"/>
      <p:regular r:id="rId28"/>
    </p:embeddedFont>
    <p:embeddedFont>
      <p:font typeface="Calibri (MS) Italics" panose="020B0604020202020204" charset="0"/>
      <p:regular r:id="rId29"/>
    </p:embeddedFont>
    <p:embeddedFont>
      <p:font typeface="Canva Sans" panose="020B0604020202020204" charset="0"/>
      <p:regular r:id="rId30"/>
    </p:embeddedFont>
    <p:embeddedFont>
      <p:font typeface="Times New Roman" panose="02020603050405020304" pitchFamily="18" charset="0"/>
      <p:regular r:id="rId31"/>
    </p:embeddedFont>
    <p:embeddedFont>
      <p:font typeface="Times New Roman Bold" panose="02020803070505020304" pitchFamily="18" charset="0"/>
      <p:regular r:id="rId32"/>
      <p:bold r:id="rId33"/>
    </p:embeddedFont>
    <p:embeddedFont>
      <p:font typeface="Times New Roman Italics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hyperlink" Target="https://drive.google.com/drive/folders/1W1W9GIbKBIgqMCQhBviRm8cMClHgXY-C?usp=drive_link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drive/folders/1W1W9GIbKBIgqMCQhBviRm8cMClHgXY-C" TargetMode="External"/><Relationship Id="rId4" Type="http://schemas.openxmlformats.org/officeDocument/2006/relationships/hyperlink" Target="https://github.com/tasneemfaisal08/VELORA-Violation-Evaluation-and-Lane-Orchestration-for-Real-time-Road-Automation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tasneemfaisal08/VELORA-Violation-Evaluation-and-Lane-Orchestration-for-Real-time-Road-Automation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35131"/>
            <a:chOff x="0" y="0"/>
            <a:chExt cx="23978959" cy="1801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180213"/>
            </a:xfrm>
            <a:custGeom>
              <a:avLst/>
              <a:gdLst/>
              <a:ahLst/>
              <a:cxnLst/>
              <a:rect l="l" t="t" r="r" b="b"/>
              <a:pathLst>
                <a:path w="23978997" h="180213">
                  <a:moveTo>
                    <a:pt x="0" y="0"/>
                  </a:moveTo>
                  <a:lnTo>
                    <a:pt x="23978997" y="0"/>
                  </a:lnTo>
                  <a:lnTo>
                    <a:pt x="23978997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-12697" y="10173719"/>
            <a:ext cx="18313403" cy="125987"/>
            <a:chOff x="0" y="0"/>
            <a:chExt cx="24417871" cy="1679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17910" cy="168021"/>
            </a:xfrm>
            <a:custGeom>
              <a:avLst/>
              <a:gdLst/>
              <a:ahLst/>
              <a:cxnLst/>
              <a:rect l="l" t="t" r="r" b="b"/>
              <a:pathLst>
                <a:path w="24417910" h="168021">
                  <a:moveTo>
                    <a:pt x="0" y="0"/>
                  </a:moveTo>
                  <a:lnTo>
                    <a:pt x="24417910" y="0"/>
                  </a:lnTo>
                  <a:lnTo>
                    <a:pt x="24417910" y="168021"/>
                  </a:lnTo>
                  <a:lnTo>
                    <a:pt x="0" y="168021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828800" y="457200"/>
            <a:ext cx="1920240" cy="1920240"/>
            <a:chOff x="0" y="0"/>
            <a:chExt cx="2560320" cy="256032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560320" cy="2560320"/>
            </a:xfrm>
            <a:custGeom>
              <a:avLst/>
              <a:gdLst/>
              <a:ahLst/>
              <a:cxnLst/>
              <a:rect l="l" t="t" r="r" b="b"/>
              <a:pathLst>
                <a:path w="2560320" h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7" r="-60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955280" y="365760"/>
            <a:ext cx="2377440" cy="2011680"/>
            <a:chOff x="0" y="0"/>
            <a:chExt cx="3169920" cy="268224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3169920" cy="2682240"/>
            </a:xfrm>
            <a:custGeom>
              <a:avLst/>
              <a:gdLst/>
              <a:ahLst/>
              <a:cxnLst/>
              <a:rect l="l" t="t" r="r" b="b"/>
              <a:pathLst>
                <a:path w="3169920" h="2682240">
                  <a:moveTo>
                    <a:pt x="0" y="0"/>
                  </a:moveTo>
                  <a:lnTo>
                    <a:pt x="3169920" y="0"/>
                  </a:lnTo>
                  <a:lnTo>
                    <a:pt x="316992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090" b="-909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716000" y="548640"/>
            <a:ext cx="3200400" cy="1645920"/>
            <a:chOff x="0" y="0"/>
            <a:chExt cx="4267200" cy="219456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4267200" cy="2194560"/>
            </a:xfrm>
            <a:custGeom>
              <a:avLst/>
              <a:gdLst/>
              <a:ahLst/>
              <a:cxnLst/>
              <a:rect l="l" t="t" r="r" b="b"/>
              <a:pathLst>
                <a:path w="4267200" h="219456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687" b="-468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444503" y="2639063"/>
            <a:ext cx="17399003" cy="71123"/>
            <a:chOff x="0" y="0"/>
            <a:chExt cx="23198671" cy="948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198710" cy="94869"/>
            </a:xfrm>
            <a:custGeom>
              <a:avLst/>
              <a:gdLst/>
              <a:ahLst/>
              <a:cxnLst/>
              <a:rect l="l" t="t" r="r" b="b"/>
              <a:pathLst>
                <a:path w="23198710" h="94869">
                  <a:moveTo>
                    <a:pt x="0" y="0"/>
                  </a:moveTo>
                  <a:lnTo>
                    <a:pt x="23198710" y="0"/>
                  </a:lnTo>
                  <a:lnTo>
                    <a:pt x="23198710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48640" y="2926080"/>
            <a:ext cx="17190720" cy="1828800"/>
            <a:chOff x="0" y="0"/>
            <a:chExt cx="22920960" cy="2438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920961" cy="2438400"/>
            </a:xfrm>
            <a:custGeom>
              <a:avLst/>
              <a:gdLst/>
              <a:ahLst/>
              <a:cxnLst/>
              <a:rect l="l" t="t" r="r" b="b"/>
              <a:pathLst>
                <a:path w="22920961" h="2438400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3159" b="-13315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22920960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VELORA — Violation Evaluation and Lane Orchestration for </a:t>
              </a:r>
            </a:p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Road Automation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8640" y="4754880"/>
            <a:ext cx="17190720" cy="731520"/>
            <a:chOff x="0" y="0"/>
            <a:chExt cx="22920960" cy="9753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920961" cy="975360"/>
            </a:xfrm>
            <a:custGeom>
              <a:avLst/>
              <a:gdLst/>
              <a:ahLst/>
              <a:cxnLst/>
              <a:rect l="l" t="t" r="r" b="b"/>
              <a:pathLst>
                <a:path w="22920961" h="975360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07898" b="-40789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 spc="600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CAPSTONE PROJECT PRESENTATION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730503" y="5656583"/>
            <a:ext cx="12827003" cy="3865883"/>
            <a:chOff x="0" y="0"/>
            <a:chExt cx="17102671" cy="51545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102710" cy="5154549"/>
            </a:xfrm>
            <a:custGeom>
              <a:avLst/>
              <a:gdLst/>
              <a:ahLst/>
              <a:cxnLst/>
              <a:rect l="l" t="t" r="r" b="b"/>
              <a:pathLst>
                <a:path w="17102710" h="5154549">
                  <a:moveTo>
                    <a:pt x="0" y="0"/>
                  </a:moveTo>
                  <a:lnTo>
                    <a:pt x="17102710" y="0"/>
                  </a:lnTo>
                  <a:lnTo>
                    <a:pt x="17102710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0D1F3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2730503" y="5656583"/>
            <a:ext cx="153419" cy="3865883"/>
            <a:chOff x="0" y="0"/>
            <a:chExt cx="204559" cy="51545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4597" cy="5154549"/>
            </a:xfrm>
            <a:custGeom>
              <a:avLst/>
              <a:gdLst/>
              <a:ahLst/>
              <a:cxnLst/>
              <a:rect l="l" t="t" r="r" b="b"/>
              <a:pathLst>
                <a:path w="204597" h="5154549">
                  <a:moveTo>
                    <a:pt x="0" y="0"/>
                  </a:moveTo>
                  <a:lnTo>
                    <a:pt x="204597" y="0"/>
                  </a:lnTo>
                  <a:lnTo>
                    <a:pt x="204597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017520" y="5815584"/>
            <a:ext cx="2560320" cy="694944"/>
            <a:chOff x="0" y="0"/>
            <a:chExt cx="341376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786" b="-2178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/ Job Profile: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669280" y="5815584"/>
            <a:ext cx="9601200" cy="694944"/>
            <a:chOff x="0" y="0"/>
            <a:chExt cx="12801600" cy="926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01600" cy="926592"/>
            </a:xfrm>
            <a:custGeom>
              <a:avLst/>
              <a:gdLst/>
              <a:ahLst/>
              <a:cxnLst/>
              <a:rect l="l" t="t" r="r" b="b"/>
              <a:pathLst>
                <a:path w="12801600" h="926592">
                  <a:moveTo>
                    <a:pt x="0" y="0"/>
                  </a:moveTo>
                  <a:lnTo>
                    <a:pt x="12801600" y="0"/>
                  </a:lnTo>
                  <a:lnTo>
                    <a:pt x="12801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9201" b="-21920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2801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&amp; Data Science / Microsoft Machine Learning Developer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017520" y="6675120"/>
            <a:ext cx="2560320" cy="694944"/>
            <a:chOff x="0" y="0"/>
            <a:chExt cx="3413760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786" b="-2178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Team: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9280" y="6675120"/>
            <a:ext cx="9601200" cy="694944"/>
            <a:chOff x="0" y="0"/>
            <a:chExt cx="1280160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01600" cy="926592"/>
            </a:xfrm>
            <a:custGeom>
              <a:avLst/>
              <a:gdLst/>
              <a:ahLst/>
              <a:cxnLst/>
              <a:rect l="l" t="t" r="r" b="b"/>
              <a:pathLst>
                <a:path w="12801600" h="926592">
                  <a:moveTo>
                    <a:pt x="0" y="0"/>
                  </a:moveTo>
                  <a:lnTo>
                    <a:pt x="12801600" y="0"/>
                  </a:lnTo>
                  <a:lnTo>
                    <a:pt x="12801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9201" b="-21920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2801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5G — Wesam Fathy, Basma Hassan, Tasneem Faisal, Habiba Adel, Salma Abdelhaleem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017520" y="7534656"/>
            <a:ext cx="2560320" cy="694944"/>
            <a:chOff x="0" y="0"/>
            <a:chExt cx="341376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786" b="-2178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Supervisor: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69280" y="7534656"/>
            <a:ext cx="9601200" cy="694944"/>
            <a:chOff x="0" y="0"/>
            <a:chExt cx="12801600" cy="9265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801600" cy="926592"/>
            </a:xfrm>
            <a:custGeom>
              <a:avLst/>
              <a:gdLst/>
              <a:ahLst/>
              <a:cxnLst/>
              <a:rect l="l" t="t" r="r" b="b"/>
              <a:pathLst>
                <a:path w="12801600" h="926592">
                  <a:moveTo>
                    <a:pt x="0" y="0"/>
                  </a:moveTo>
                  <a:lnTo>
                    <a:pt x="12801600" y="0"/>
                  </a:lnTo>
                  <a:lnTo>
                    <a:pt x="12801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9201" b="-21920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2801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 Head: Dr. Rania ElGohary | Supervisor: Dr. Mohamed El Badawi | Eng. Engy Ayman, Eng. Sama, Eng. Antonios Malak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017520" y="8394192"/>
            <a:ext cx="2560320" cy="694944"/>
            <a:chOff x="0" y="0"/>
            <a:chExt cx="3413760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786" b="-2178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Submission: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69280" y="8394192"/>
            <a:ext cx="9601200" cy="694944"/>
            <a:chOff x="0" y="0"/>
            <a:chExt cx="12801600" cy="9265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801600" cy="926592"/>
            </a:xfrm>
            <a:custGeom>
              <a:avLst/>
              <a:gdLst/>
              <a:ahLst/>
              <a:cxnLst/>
              <a:rect l="l" t="t" r="r" b="b"/>
              <a:pathLst>
                <a:path w="12801600" h="926592">
                  <a:moveTo>
                    <a:pt x="0" y="0"/>
                  </a:moveTo>
                  <a:lnTo>
                    <a:pt x="12801600" y="0"/>
                  </a:lnTo>
                  <a:lnTo>
                    <a:pt x="12801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9201" b="-21920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28016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June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27383" y="1779527"/>
            <a:ext cx="1031243" cy="1268987"/>
            <a:chOff x="0" y="0"/>
            <a:chExt cx="1374991" cy="16919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5029" cy="1692021"/>
            </a:xfrm>
            <a:custGeom>
              <a:avLst/>
              <a:gdLst/>
              <a:ahLst/>
              <a:cxnLst/>
              <a:rect l="l" t="t" r="r" b="b"/>
              <a:pathLst>
                <a:path w="1375029" h="1692021">
                  <a:moveTo>
                    <a:pt x="0" y="0"/>
                  </a:moveTo>
                  <a:lnTo>
                    <a:pt x="1375029" y="0"/>
                  </a:lnTo>
                  <a:lnTo>
                    <a:pt x="1375029" y="1692021"/>
                  </a:lnTo>
                  <a:lnTo>
                    <a:pt x="0" y="1692021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40080" y="1792224"/>
            <a:ext cx="1005840" cy="1243584"/>
            <a:chOff x="0" y="0"/>
            <a:chExt cx="1341120" cy="16581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41120" cy="1658112"/>
            </a:xfrm>
            <a:custGeom>
              <a:avLst/>
              <a:gdLst/>
              <a:ahLst/>
              <a:cxnLst/>
              <a:rect l="l" t="t" r="r" b="b"/>
              <a:pathLst>
                <a:path w="1341120" h="1658112">
                  <a:moveTo>
                    <a:pt x="0" y="0"/>
                  </a:moveTo>
                  <a:lnTo>
                    <a:pt x="1341120" y="0"/>
                  </a:lnTo>
                  <a:lnTo>
                    <a:pt x="13411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629" r="-10862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341120" cy="1724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31007" y="1785871"/>
            <a:ext cx="7510777" cy="1256281"/>
            <a:chOff x="0" y="0"/>
            <a:chExt cx="10014369" cy="16750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14331" cy="1675003"/>
            </a:xfrm>
            <a:custGeom>
              <a:avLst/>
              <a:gdLst/>
              <a:ahLst/>
              <a:cxnLst/>
              <a:rect l="l" t="t" r="r" b="b"/>
              <a:pathLst>
                <a:path w="10014331" h="1675003">
                  <a:moveTo>
                    <a:pt x="0" y="0"/>
                  </a:moveTo>
                  <a:lnTo>
                    <a:pt x="10014331" y="0"/>
                  </a:lnTo>
                  <a:lnTo>
                    <a:pt x="1001433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920240" y="1792224"/>
            <a:ext cx="7132320" cy="1243584"/>
            <a:chOff x="0" y="0"/>
            <a:chExt cx="9509760" cy="16581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9760" cy="1658112"/>
            </a:xfrm>
            <a:custGeom>
              <a:avLst/>
              <a:gdLst/>
              <a:ahLst/>
              <a:cxnLst/>
              <a:rect l="l" t="t" r="r" b="b"/>
              <a:pathLst>
                <a:path w="9509760" h="1658112">
                  <a:moveTo>
                    <a:pt x="0" y="0"/>
                  </a:moveTo>
                  <a:lnTo>
                    <a:pt x="9509760" y="0"/>
                  </a:lnTo>
                  <a:lnTo>
                    <a:pt x="9509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752" b="-6175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950976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D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Introduction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7383" y="3608327"/>
            <a:ext cx="1031243" cy="1268987"/>
            <a:chOff x="0" y="0"/>
            <a:chExt cx="1374991" cy="16919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75029" cy="1692021"/>
            </a:xfrm>
            <a:custGeom>
              <a:avLst/>
              <a:gdLst/>
              <a:ahLst/>
              <a:cxnLst/>
              <a:rect l="l" t="t" r="r" b="b"/>
              <a:pathLst>
                <a:path w="1375029" h="1692021">
                  <a:moveTo>
                    <a:pt x="0" y="0"/>
                  </a:moveTo>
                  <a:lnTo>
                    <a:pt x="1375029" y="0"/>
                  </a:lnTo>
                  <a:lnTo>
                    <a:pt x="1375029" y="1692021"/>
                  </a:lnTo>
                  <a:lnTo>
                    <a:pt x="0" y="1692021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40080" y="3621024"/>
            <a:ext cx="1005840" cy="1243584"/>
            <a:chOff x="0" y="0"/>
            <a:chExt cx="1341120" cy="16581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1120" cy="1658112"/>
            </a:xfrm>
            <a:custGeom>
              <a:avLst/>
              <a:gdLst/>
              <a:ahLst/>
              <a:cxnLst/>
              <a:rect l="l" t="t" r="r" b="b"/>
              <a:pathLst>
                <a:path w="1341120" h="1658112">
                  <a:moveTo>
                    <a:pt x="0" y="0"/>
                  </a:moveTo>
                  <a:lnTo>
                    <a:pt x="1341120" y="0"/>
                  </a:lnTo>
                  <a:lnTo>
                    <a:pt x="13411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629" r="-10862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1341120" cy="1724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31007" y="3614671"/>
            <a:ext cx="7510777" cy="1256281"/>
            <a:chOff x="0" y="0"/>
            <a:chExt cx="10014369" cy="16750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014331" cy="1675003"/>
            </a:xfrm>
            <a:custGeom>
              <a:avLst/>
              <a:gdLst/>
              <a:ahLst/>
              <a:cxnLst/>
              <a:rect l="l" t="t" r="r" b="b"/>
              <a:pathLst>
                <a:path w="10014331" h="1675003">
                  <a:moveTo>
                    <a:pt x="0" y="0"/>
                  </a:moveTo>
                  <a:lnTo>
                    <a:pt x="10014331" y="0"/>
                  </a:lnTo>
                  <a:lnTo>
                    <a:pt x="1001433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920240" y="3621024"/>
            <a:ext cx="7132320" cy="1243584"/>
            <a:chOff x="0" y="0"/>
            <a:chExt cx="9509760" cy="16581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509760" cy="1658112"/>
            </a:xfrm>
            <a:custGeom>
              <a:avLst/>
              <a:gdLst/>
              <a:ahLst/>
              <a:cxnLst/>
              <a:rect l="l" t="t" r="r" b="b"/>
              <a:pathLst>
                <a:path w="9509760" h="1658112">
                  <a:moveTo>
                    <a:pt x="0" y="0"/>
                  </a:moveTo>
                  <a:lnTo>
                    <a:pt x="9509760" y="0"/>
                  </a:lnTo>
                  <a:lnTo>
                    <a:pt x="9509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752" b="-6175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950976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D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 &amp; Background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7383" y="5437127"/>
            <a:ext cx="1031243" cy="1268987"/>
            <a:chOff x="0" y="0"/>
            <a:chExt cx="1374991" cy="169198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75029" cy="1692021"/>
            </a:xfrm>
            <a:custGeom>
              <a:avLst/>
              <a:gdLst/>
              <a:ahLst/>
              <a:cxnLst/>
              <a:rect l="l" t="t" r="r" b="b"/>
              <a:pathLst>
                <a:path w="1375029" h="1692021">
                  <a:moveTo>
                    <a:pt x="0" y="0"/>
                  </a:moveTo>
                  <a:lnTo>
                    <a:pt x="1375029" y="0"/>
                  </a:lnTo>
                  <a:lnTo>
                    <a:pt x="1375029" y="1692021"/>
                  </a:lnTo>
                  <a:lnTo>
                    <a:pt x="0" y="1692021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40080" y="5449824"/>
            <a:ext cx="1005840" cy="1243584"/>
            <a:chOff x="0" y="0"/>
            <a:chExt cx="1341120" cy="165811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41120" cy="1658112"/>
            </a:xfrm>
            <a:custGeom>
              <a:avLst/>
              <a:gdLst/>
              <a:ahLst/>
              <a:cxnLst/>
              <a:rect l="l" t="t" r="r" b="b"/>
              <a:pathLst>
                <a:path w="1341120" h="1658112">
                  <a:moveTo>
                    <a:pt x="0" y="0"/>
                  </a:moveTo>
                  <a:lnTo>
                    <a:pt x="1341120" y="0"/>
                  </a:lnTo>
                  <a:lnTo>
                    <a:pt x="13411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629" r="-10862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1341120" cy="1724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31007" y="5443471"/>
            <a:ext cx="7510777" cy="1256281"/>
            <a:chOff x="0" y="0"/>
            <a:chExt cx="10014369" cy="167504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014331" cy="1675003"/>
            </a:xfrm>
            <a:custGeom>
              <a:avLst/>
              <a:gdLst/>
              <a:ahLst/>
              <a:cxnLst/>
              <a:rect l="l" t="t" r="r" b="b"/>
              <a:pathLst>
                <a:path w="10014331" h="1675003">
                  <a:moveTo>
                    <a:pt x="0" y="0"/>
                  </a:moveTo>
                  <a:lnTo>
                    <a:pt x="10014331" y="0"/>
                  </a:lnTo>
                  <a:lnTo>
                    <a:pt x="1001433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920240" y="5449824"/>
            <a:ext cx="7132320" cy="1243584"/>
            <a:chOff x="0" y="0"/>
            <a:chExt cx="9509760" cy="165811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509760" cy="1658112"/>
            </a:xfrm>
            <a:custGeom>
              <a:avLst/>
              <a:gdLst/>
              <a:ahLst/>
              <a:cxnLst/>
              <a:rect l="l" t="t" r="r" b="b"/>
              <a:pathLst>
                <a:path w="9509760" h="1658112">
                  <a:moveTo>
                    <a:pt x="0" y="0"/>
                  </a:moveTo>
                  <a:lnTo>
                    <a:pt x="9509760" y="0"/>
                  </a:lnTo>
                  <a:lnTo>
                    <a:pt x="9509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752" b="-6175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950976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D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Objectives &amp; Scope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7383" y="7265927"/>
            <a:ext cx="1031243" cy="1268987"/>
            <a:chOff x="0" y="0"/>
            <a:chExt cx="1374991" cy="169198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75029" cy="1692021"/>
            </a:xfrm>
            <a:custGeom>
              <a:avLst/>
              <a:gdLst/>
              <a:ahLst/>
              <a:cxnLst/>
              <a:rect l="l" t="t" r="r" b="b"/>
              <a:pathLst>
                <a:path w="1375029" h="1692021">
                  <a:moveTo>
                    <a:pt x="0" y="0"/>
                  </a:moveTo>
                  <a:lnTo>
                    <a:pt x="1375029" y="0"/>
                  </a:lnTo>
                  <a:lnTo>
                    <a:pt x="1375029" y="1692021"/>
                  </a:lnTo>
                  <a:lnTo>
                    <a:pt x="0" y="1692021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40080" y="7278624"/>
            <a:ext cx="1005840" cy="1243584"/>
            <a:chOff x="0" y="0"/>
            <a:chExt cx="1341120" cy="165811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41120" cy="1658112"/>
            </a:xfrm>
            <a:custGeom>
              <a:avLst/>
              <a:gdLst/>
              <a:ahLst/>
              <a:cxnLst/>
              <a:rect l="l" t="t" r="r" b="b"/>
              <a:pathLst>
                <a:path w="1341120" h="1658112">
                  <a:moveTo>
                    <a:pt x="0" y="0"/>
                  </a:moveTo>
                  <a:lnTo>
                    <a:pt x="1341120" y="0"/>
                  </a:lnTo>
                  <a:lnTo>
                    <a:pt x="13411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629" r="-108629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1341120" cy="1724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731007" y="7272271"/>
            <a:ext cx="7510777" cy="1256281"/>
            <a:chOff x="0" y="0"/>
            <a:chExt cx="10014369" cy="167504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014331" cy="1675003"/>
            </a:xfrm>
            <a:custGeom>
              <a:avLst/>
              <a:gdLst/>
              <a:ahLst/>
              <a:cxnLst/>
              <a:rect l="l" t="t" r="r" b="b"/>
              <a:pathLst>
                <a:path w="10014331" h="1675003">
                  <a:moveTo>
                    <a:pt x="0" y="0"/>
                  </a:moveTo>
                  <a:lnTo>
                    <a:pt x="10014331" y="0"/>
                  </a:lnTo>
                  <a:lnTo>
                    <a:pt x="1001433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920240" y="7278624"/>
            <a:ext cx="7132320" cy="1243584"/>
            <a:chOff x="0" y="0"/>
            <a:chExt cx="9509760" cy="165811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509760" cy="1658112"/>
            </a:xfrm>
            <a:custGeom>
              <a:avLst/>
              <a:gdLst/>
              <a:ahLst/>
              <a:cxnLst/>
              <a:rect l="l" t="t" r="r" b="b"/>
              <a:pathLst>
                <a:path w="9509760" h="1658112">
                  <a:moveTo>
                    <a:pt x="0" y="0"/>
                  </a:moveTo>
                  <a:lnTo>
                    <a:pt x="9509760" y="0"/>
                  </a:lnTo>
                  <a:lnTo>
                    <a:pt x="9509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752" b="-6175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950976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D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Proposed Solution &amp; Architecture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314183" y="1779527"/>
            <a:ext cx="1031243" cy="1268987"/>
            <a:chOff x="0" y="0"/>
            <a:chExt cx="1374991" cy="169198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75029" cy="1692021"/>
            </a:xfrm>
            <a:custGeom>
              <a:avLst/>
              <a:gdLst/>
              <a:ahLst/>
              <a:cxnLst/>
              <a:rect l="l" t="t" r="r" b="b"/>
              <a:pathLst>
                <a:path w="1375029" h="1692021">
                  <a:moveTo>
                    <a:pt x="0" y="0"/>
                  </a:moveTo>
                  <a:lnTo>
                    <a:pt x="1375029" y="0"/>
                  </a:lnTo>
                  <a:lnTo>
                    <a:pt x="1375029" y="1692021"/>
                  </a:lnTo>
                  <a:lnTo>
                    <a:pt x="0" y="1692021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326880" y="1792224"/>
            <a:ext cx="1005840" cy="1243584"/>
            <a:chOff x="0" y="0"/>
            <a:chExt cx="1341120" cy="165811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341120" cy="1658112"/>
            </a:xfrm>
            <a:custGeom>
              <a:avLst/>
              <a:gdLst/>
              <a:ahLst/>
              <a:cxnLst/>
              <a:rect l="l" t="t" r="r" b="b"/>
              <a:pathLst>
                <a:path w="1341120" h="1658112">
                  <a:moveTo>
                    <a:pt x="0" y="0"/>
                  </a:moveTo>
                  <a:lnTo>
                    <a:pt x="1341120" y="0"/>
                  </a:lnTo>
                  <a:lnTo>
                    <a:pt x="13411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629" r="-10862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341120" cy="1724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417807" y="1785871"/>
            <a:ext cx="7510777" cy="1256281"/>
            <a:chOff x="0" y="0"/>
            <a:chExt cx="10014369" cy="167504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014331" cy="1675003"/>
            </a:xfrm>
            <a:custGeom>
              <a:avLst/>
              <a:gdLst/>
              <a:ahLst/>
              <a:cxnLst/>
              <a:rect l="l" t="t" r="r" b="b"/>
              <a:pathLst>
                <a:path w="10014331" h="1675003">
                  <a:moveTo>
                    <a:pt x="0" y="0"/>
                  </a:moveTo>
                  <a:lnTo>
                    <a:pt x="10014331" y="0"/>
                  </a:lnTo>
                  <a:lnTo>
                    <a:pt x="1001433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10607040" y="1792224"/>
            <a:ext cx="7132320" cy="1243584"/>
            <a:chOff x="0" y="0"/>
            <a:chExt cx="9509760" cy="165811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509760" cy="1658112"/>
            </a:xfrm>
            <a:custGeom>
              <a:avLst/>
              <a:gdLst/>
              <a:ahLst/>
              <a:cxnLst/>
              <a:rect l="l" t="t" r="r" b="b"/>
              <a:pathLst>
                <a:path w="9509760" h="1658112">
                  <a:moveTo>
                    <a:pt x="0" y="0"/>
                  </a:moveTo>
                  <a:lnTo>
                    <a:pt x="9509760" y="0"/>
                  </a:lnTo>
                  <a:lnTo>
                    <a:pt x="9509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752" b="-6175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950976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D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Stack &amp; Implementation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314183" y="3608327"/>
            <a:ext cx="1031243" cy="1268987"/>
            <a:chOff x="0" y="0"/>
            <a:chExt cx="1374991" cy="1691983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375029" cy="1692021"/>
            </a:xfrm>
            <a:custGeom>
              <a:avLst/>
              <a:gdLst/>
              <a:ahLst/>
              <a:cxnLst/>
              <a:rect l="l" t="t" r="r" b="b"/>
              <a:pathLst>
                <a:path w="1375029" h="1692021">
                  <a:moveTo>
                    <a:pt x="0" y="0"/>
                  </a:moveTo>
                  <a:lnTo>
                    <a:pt x="1375029" y="0"/>
                  </a:lnTo>
                  <a:lnTo>
                    <a:pt x="1375029" y="1692021"/>
                  </a:lnTo>
                  <a:lnTo>
                    <a:pt x="0" y="1692021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9326880" y="3621024"/>
            <a:ext cx="1005840" cy="1243584"/>
            <a:chOff x="0" y="0"/>
            <a:chExt cx="1341120" cy="165811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341120" cy="1658112"/>
            </a:xfrm>
            <a:custGeom>
              <a:avLst/>
              <a:gdLst/>
              <a:ahLst/>
              <a:cxnLst/>
              <a:rect l="l" t="t" r="r" b="b"/>
              <a:pathLst>
                <a:path w="1341120" h="1658112">
                  <a:moveTo>
                    <a:pt x="0" y="0"/>
                  </a:moveTo>
                  <a:lnTo>
                    <a:pt x="1341120" y="0"/>
                  </a:lnTo>
                  <a:lnTo>
                    <a:pt x="13411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629" r="-108629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66675"/>
              <a:ext cx="1341120" cy="1724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417807" y="3614671"/>
            <a:ext cx="7510777" cy="1256281"/>
            <a:chOff x="0" y="0"/>
            <a:chExt cx="10014369" cy="167504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014331" cy="1675003"/>
            </a:xfrm>
            <a:custGeom>
              <a:avLst/>
              <a:gdLst/>
              <a:ahLst/>
              <a:cxnLst/>
              <a:rect l="l" t="t" r="r" b="b"/>
              <a:pathLst>
                <a:path w="10014331" h="1675003">
                  <a:moveTo>
                    <a:pt x="0" y="0"/>
                  </a:moveTo>
                  <a:lnTo>
                    <a:pt x="10014331" y="0"/>
                  </a:lnTo>
                  <a:lnTo>
                    <a:pt x="1001433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0607040" y="3621024"/>
            <a:ext cx="7132320" cy="1243584"/>
            <a:chOff x="0" y="0"/>
            <a:chExt cx="9509760" cy="165811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509760" cy="1658112"/>
            </a:xfrm>
            <a:custGeom>
              <a:avLst/>
              <a:gdLst/>
              <a:ahLst/>
              <a:cxnLst/>
              <a:rect l="l" t="t" r="r" b="b"/>
              <a:pathLst>
                <a:path w="9509760" h="1658112">
                  <a:moveTo>
                    <a:pt x="0" y="0"/>
                  </a:moveTo>
                  <a:lnTo>
                    <a:pt x="9509760" y="0"/>
                  </a:lnTo>
                  <a:lnTo>
                    <a:pt x="9509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752" b="-6175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950976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D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Demo &amp; Results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314183" y="5437127"/>
            <a:ext cx="1031243" cy="1268987"/>
            <a:chOff x="0" y="0"/>
            <a:chExt cx="1374991" cy="169198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375029" cy="1692021"/>
            </a:xfrm>
            <a:custGeom>
              <a:avLst/>
              <a:gdLst/>
              <a:ahLst/>
              <a:cxnLst/>
              <a:rect l="l" t="t" r="r" b="b"/>
              <a:pathLst>
                <a:path w="1375029" h="1692021">
                  <a:moveTo>
                    <a:pt x="0" y="0"/>
                  </a:moveTo>
                  <a:lnTo>
                    <a:pt x="1375029" y="0"/>
                  </a:lnTo>
                  <a:lnTo>
                    <a:pt x="1375029" y="1692021"/>
                  </a:lnTo>
                  <a:lnTo>
                    <a:pt x="0" y="1692021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9326880" y="5449824"/>
            <a:ext cx="1005840" cy="1243584"/>
            <a:chOff x="0" y="0"/>
            <a:chExt cx="1341120" cy="165811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341120" cy="1658112"/>
            </a:xfrm>
            <a:custGeom>
              <a:avLst/>
              <a:gdLst/>
              <a:ahLst/>
              <a:cxnLst/>
              <a:rect l="l" t="t" r="r" b="b"/>
              <a:pathLst>
                <a:path w="1341120" h="1658112">
                  <a:moveTo>
                    <a:pt x="0" y="0"/>
                  </a:moveTo>
                  <a:lnTo>
                    <a:pt x="1341120" y="0"/>
                  </a:lnTo>
                  <a:lnTo>
                    <a:pt x="13411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629" r="-108629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66675"/>
              <a:ext cx="1341120" cy="17247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417807" y="5443471"/>
            <a:ext cx="7510777" cy="1256281"/>
            <a:chOff x="0" y="0"/>
            <a:chExt cx="10014369" cy="1675041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014331" cy="1675003"/>
            </a:xfrm>
            <a:custGeom>
              <a:avLst/>
              <a:gdLst/>
              <a:ahLst/>
              <a:cxnLst/>
              <a:rect l="l" t="t" r="r" b="b"/>
              <a:pathLst>
                <a:path w="10014331" h="1675003">
                  <a:moveTo>
                    <a:pt x="0" y="0"/>
                  </a:moveTo>
                  <a:lnTo>
                    <a:pt x="10014331" y="0"/>
                  </a:lnTo>
                  <a:lnTo>
                    <a:pt x="1001433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0607040" y="5449824"/>
            <a:ext cx="7132320" cy="1243584"/>
            <a:chOff x="0" y="0"/>
            <a:chExt cx="9509760" cy="165811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509760" cy="1658112"/>
            </a:xfrm>
            <a:custGeom>
              <a:avLst/>
              <a:gdLst/>
              <a:ahLst/>
              <a:cxnLst/>
              <a:rect l="l" t="t" r="r" b="b"/>
              <a:pathLst>
                <a:path w="9509760" h="1658112">
                  <a:moveTo>
                    <a:pt x="0" y="0"/>
                  </a:moveTo>
                  <a:lnTo>
                    <a:pt x="9509760" y="0"/>
                  </a:lnTo>
                  <a:lnTo>
                    <a:pt x="9509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752" b="-61752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57150"/>
              <a:ext cx="950976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2D5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 &amp; Future Work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Introduction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16607" y="1676143"/>
            <a:ext cx="3121657" cy="6962137"/>
            <a:chOff x="0" y="0"/>
            <a:chExt cx="4162209" cy="92828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62171" cy="9282811"/>
            </a:xfrm>
            <a:custGeom>
              <a:avLst/>
              <a:gdLst/>
              <a:ahLst/>
              <a:cxnLst/>
              <a:rect l="l" t="t" r="r" b="b"/>
              <a:pathLst>
                <a:path w="4162171" h="9282811">
                  <a:moveTo>
                    <a:pt x="0" y="0"/>
                  </a:moveTo>
                  <a:lnTo>
                    <a:pt x="4162171" y="0"/>
                  </a:lnTo>
                  <a:lnTo>
                    <a:pt x="41621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10263" y="1669799"/>
            <a:ext cx="3134363" cy="153419"/>
            <a:chOff x="0" y="0"/>
            <a:chExt cx="4179151" cy="2045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79189" cy="204597"/>
            </a:xfrm>
            <a:custGeom>
              <a:avLst/>
              <a:gdLst/>
              <a:ahLst/>
              <a:cxnLst/>
              <a:rect l="l" t="t" r="r" b="b"/>
              <a:pathLst>
                <a:path w="4179189" h="204597">
                  <a:moveTo>
                    <a:pt x="0" y="0"/>
                  </a:moveTo>
                  <a:lnTo>
                    <a:pt x="4179189" y="0"/>
                  </a:lnTo>
                  <a:lnTo>
                    <a:pt x="41791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22960" y="4768720"/>
            <a:ext cx="2926080" cy="768096"/>
            <a:chOff x="0" y="0"/>
            <a:chExt cx="3901440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01440" cy="1024128"/>
            </a:xfrm>
            <a:custGeom>
              <a:avLst/>
              <a:gdLst/>
              <a:ahLst/>
              <a:cxnLst/>
              <a:rect l="l" t="t" r="r" b="b"/>
              <a:pathLst>
                <a:path w="3901440" h="1024128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8" b="-2422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D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Basma Hassan Qutb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6617" y="5541264"/>
            <a:ext cx="2926080" cy="640080"/>
            <a:chOff x="0" y="0"/>
            <a:chExt cx="3901440" cy="8534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01440" cy="853440"/>
            </a:xfrm>
            <a:custGeom>
              <a:avLst/>
              <a:gdLst/>
              <a:ahLst/>
              <a:cxnLst/>
              <a:rect l="l" t="t" r="r" b="b"/>
              <a:pathLst>
                <a:path w="3901440" h="853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074" b="-3907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9014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1E5C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Computer Vision &amp; AI Engineer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3143" y="6455797"/>
            <a:ext cx="2585723" cy="71123"/>
            <a:chOff x="0" y="0"/>
            <a:chExt cx="3447631" cy="9483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47669" cy="94869"/>
            </a:xfrm>
            <a:custGeom>
              <a:avLst/>
              <a:gdLst/>
              <a:ahLst/>
              <a:cxnLst/>
              <a:rect l="l" t="t" r="r" b="b"/>
              <a:pathLst>
                <a:path w="3447669" h="94869">
                  <a:moveTo>
                    <a:pt x="0" y="0"/>
                  </a:moveTo>
                  <a:lnTo>
                    <a:pt x="3447669" y="0"/>
                  </a:lnTo>
                  <a:lnTo>
                    <a:pt x="344766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3A8FD4"/>
            </a:solidFill>
            <a:ln w="25400" cap="sq">
              <a:solidFill>
                <a:srgbClr val="3A8FD4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06018" y="6762693"/>
            <a:ext cx="2926080" cy="215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Violation Engine. 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YOLOv8 detection.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MiDaS depth pipeline.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DeepLabV3+ segmentation.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 preparation.</a:t>
            </a:r>
          </a:p>
          <a:p>
            <a:pPr marL="434340" lvl="1" indent="-217170" algn="l">
              <a:lnSpc>
                <a:spcPts val="2160"/>
              </a:lnSpc>
            </a:pPr>
            <a:endParaRPr lang="en-US" sz="18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4199887" y="1676143"/>
            <a:ext cx="3121657" cy="6962137"/>
            <a:chOff x="0" y="0"/>
            <a:chExt cx="4162209" cy="92828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62171" cy="9282811"/>
            </a:xfrm>
            <a:custGeom>
              <a:avLst/>
              <a:gdLst/>
              <a:ahLst/>
              <a:cxnLst/>
              <a:rect l="l" t="t" r="r" b="b"/>
              <a:pathLst>
                <a:path w="4162171" h="9282811">
                  <a:moveTo>
                    <a:pt x="0" y="0"/>
                  </a:moveTo>
                  <a:lnTo>
                    <a:pt x="4162171" y="0"/>
                  </a:lnTo>
                  <a:lnTo>
                    <a:pt x="41621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193543" y="1669799"/>
            <a:ext cx="3134363" cy="153419"/>
            <a:chOff x="0" y="0"/>
            <a:chExt cx="4179151" cy="2045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179189" cy="204597"/>
            </a:xfrm>
            <a:custGeom>
              <a:avLst/>
              <a:gdLst/>
              <a:ahLst/>
              <a:cxnLst/>
              <a:rect l="l" t="t" r="r" b="b"/>
              <a:pathLst>
                <a:path w="4179189" h="204597">
                  <a:moveTo>
                    <a:pt x="0" y="0"/>
                  </a:moveTo>
                  <a:lnTo>
                    <a:pt x="4179189" y="0"/>
                  </a:lnTo>
                  <a:lnTo>
                    <a:pt x="41791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297680" y="4779016"/>
            <a:ext cx="2926080" cy="768096"/>
            <a:chOff x="0" y="0"/>
            <a:chExt cx="3901440" cy="10241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01440" cy="1024128"/>
            </a:xfrm>
            <a:custGeom>
              <a:avLst/>
              <a:gdLst/>
              <a:ahLst/>
              <a:cxnLst/>
              <a:rect l="l" t="t" r="r" b="b"/>
              <a:pathLst>
                <a:path w="3901440" h="1024128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8" b="-24228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D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Wesam Fathy Masoud Omar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97680" y="5583688"/>
            <a:ext cx="2926080" cy="640080"/>
            <a:chOff x="0" y="0"/>
            <a:chExt cx="3901440" cy="8534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01440" cy="853440"/>
            </a:xfrm>
            <a:custGeom>
              <a:avLst/>
              <a:gdLst/>
              <a:ahLst/>
              <a:cxnLst/>
              <a:rect l="l" t="t" r="r" b="b"/>
              <a:pathLst>
                <a:path w="3901440" h="853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074" b="-3907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9014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1E5C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Computer Vision &amp; AI Engineer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00877" y="6465827"/>
            <a:ext cx="2585723" cy="71123"/>
            <a:chOff x="0" y="0"/>
            <a:chExt cx="3447631" cy="9483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47669" cy="94869"/>
            </a:xfrm>
            <a:custGeom>
              <a:avLst/>
              <a:gdLst/>
              <a:ahLst/>
              <a:cxnLst/>
              <a:rect l="l" t="t" r="r" b="b"/>
              <a:pathLst>
                <a:path w="3447669" h="94869">
                  <a:moveTo>
                    <a:pt x="0" y="0"/>
                  </a:moveTo>
                  <a:lnTo>
                    <a:pt x="3447669" y="0"/>
                  </a:lnTo>
                  <a:lnTo>
                    <a:pt x="344766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3A8FD4"/>
            </a:solidFill>
            <a:ln w="25400" cap="sq">
              <a:solidFill>
                <a:srgbClr val="3A8FD4"/>
              </a:solidFill>
              <a:prstDash val="solid"/>
              <a:miter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4389120" y="6617475"/>
            <a:ext cx="2926080" cy="189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 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YOLOv8 training 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Pothole detection 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Severity classification 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 preparation.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Poster preparation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583167" y="1676143"/>
            <a:ext cx="3121657" cy="6962137"/>
            <a:chOff x="0" y="0"/>
            <a:chExt cx="4162209" cy="928284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162171" cy="9282811"/>
            </a:xfrm>
            <a:custGeom>
              <a:avLst/>
              <a:gdLst/>
              <a:ahLst/>
              <a:cxnLst/>
              <a:rect l="l" t="t" r="r" b="b"/>
              <a:pathLst>
                <a:path w="4162171" h="9282811">
                  <a:moveTo>
                    <a:pt x="0" y="0"/>
                  </a:moveTo>
                  <a:lnTo>
                    <a:pt x="4162171" y="0"/>
                  </a:lnTo>
                  <a:lnTo>
                    <a:pt x="41621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576823" y="1669799"/>
            <a:ext cx="3134363" cy="153419"/>
            <a:chOff x="0" y="0"/>
            <a:chExt cx="4179151" cy="20455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179189" cy="204597"/>
            </a:xfrm>
            <a:custGeom>
              <a:avLst/>
              <a:gdLst/>
              <a:ahLst/>
              <a:cxnLst/>
              <a:rect l="l" t="t" r="r" b="b"/>
              <a:pathLst>
                <a:path w="4179189" h="204597">
                  <a:moveTo>
                    <a:pt x="0" y="0"/>
                  </a:moveTo>
                  <a:lnTo>
                    <a:pt x="4179189" y="0"/>
                  </a:lnTo>
                  <a:lnTo>
                    <a:pt x="41791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680960" y="4768720"/>
            <a:ext cx="2926080" cy="768096"/>
            <a:chOff x="0" y="0"/>
            <a:chExt cx="3901440" cy="10241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01440" cy="1024128"/>
            </a:xfrm>
            <a:custGeom>
              <a:avLst/>
              <a:gdLst/>
              <a:ahLst/>
              <a:cxnLst/>
              <a:rect l="l" t="t" r="r" b="b"/>
              <a:pathLst>
                <a:path w="3901440" h="1024128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8" b="-2422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D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Tasneem Faisal Makhlouf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63177" y="5541264"/>
            <a:ext cx="2926080" cy="640080"/>
            <a:chOff x="0" y="0"/>
            <a:chExt cx="3901440" cy="8534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901440" cy="853440"/>
            </a:xfrm>
            <a:custGeom>
              <a:avLst/>
              <a:gdLst/>
              <a:ahLst/>
              <a:cxnLst/>
              <a:rect l="l" t="t" r="r" b="b"/>
              <a:pathLst>
                <a:path w="3901440" h="853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074" b="-3907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9014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1E5C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Systems Engineer — Traffic Signal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33360" y="6465827"/>
            <a:ext cx="2585723" cy="71123"/>
            <a:chOff x="0" y="0"/>
            <a:chExt cx="3447631" cy="9483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447669" cy="94869"/>
            </a:xfrm>
            <a:custGeom>
              <a:avLst/>
              <a:gdLst/>
              <a:ahLst/>
              <a:cxnLst/>
              <a:rect l="l" t="t" r="r" b="b"/>
              <a:pathLst>
                <a:path w="3447669" h="94869">
                  <a:moveTo>
                    <a:pt x="0" y="0"/>
                  </a:moveTo>
                  <a:lnTo>
                    <a:pt x="3447669" y="0"/>
                  </a:lnTo>
                  <a:lnTo>
                    <a:pt x="344766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3A8FD4"/>
            </a:solidFill>
            <a:ln w="25400" cap="sq">
              <a:solidFill>
                <a:srgbClr val="3A8FD4"/>
              </a:solidFill>
              <a:prstDash val="solid"/>
              <a:miter/>
            </a:ln>
          </p:spPr>
        </p:sp>
      </p:grpSp>
      <p:sp>
        <p:nvSpPr>
          <p:cNvPr id="49" name="TextBox 49"/>
          <p:cNvSpPr txBox="1"/>
          <p:nvPr/>
        </p:nvSpPr>
        <p:spPr>
          <a:xfrm>
            <a:off x="7663177" y="6855971"/>
            <a:ext cx="2926080" cy="189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LaneOrchestrator FSM design. 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density model.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video.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preparation.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0966447" y="1676143"/>
            <a:ext cx="3121657" cy="6962137"/>
            <a:chOff x="0" y="0"/>
            <a:chExt cx="4162209" cy="928284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162171" cy="9282811"/>
            </a:xfrm>
            <a:custGeom>
              <a:avLst/>
              <a:gdLst/>
              <a:ahLst/>
              <a:cxnLst/>
              <a:rect l="l" t="t" r="r" b="b"/>
              <a:pathLst>
                <a:path w="4162171" h="9282811">
                  <a:moveTo>
                    <a:pt x="0" y="0"/>
                  </a:moveTo>
                  <a:lnTo>
                    <a:pt x="4162171" y="0"/>
                  </a:lnTo>
                  <a:lnTo>
                    <a:pt x="41621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0960103" y="1669799"/>
            <a:ext cx="3134363" cy="153419"/>
            <a:chOff x="0" y="0"/>
            <a:chExt cx="4179151" cy="20455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179189" cy="204597"/>
            </a:xfrm>
            <a:custGeom>
              <a:avLst/>
              <a:gdLst/>
              <a:ahLst/>
              <a:cxnLst/>
              <a:rect l="l" t="t" r="r" b="b"/>
              <a:pathLst>
                <a:path w="4179189" h="204597">
                  <a:moveTo>
                    <a:pt x="0" y="0"/>
                  </a:moveTo>
                  <a:lnTo>
                    <a:pt x="4179189" y="0"/>
                  </a:lnTo>
                  <a:lnTo>
                    <a:pt x="41791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1106407" y="4759452"/>
            <a:ext cx="2926080" cy="768096"/>
            <a:chOff x="0" y="0"/>
            <a:chExt cx="3901440" cy="102412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01440" cy="1024128"/>
            </a:xfrm>
            <a:custGeom>
              <a:avLst/>
              <a:gdLst/>
              <a:ahLst/>
              <a:cxnLst/>
              <a:rect l="l" t="t" r="r" b="b"/>
              <a:pathLst>
                <a:path w="3901440" h="1024128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8" b="-2422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D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Habiba Adel Saleh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064240" y="5583688"/>
            <a:ext cx="2926080" cy="640080"/>
            <a:chOff x="0" y="0"/>
            <a:chExt cx="3901440" cy="8534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901440" cy="853440"/>
            </a:xfrm>
            <a:custGeom>
              <a:avLst/>
              <a:gdLst/>
              <a:ahLst/>
              <a:cxnLst/>
              <a:rect l="l" t="t" r="r" b="b"/>
              <a:pathLst>
                <a:path w="3901440" h="853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074" b="-39074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39014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1E5C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Systems Engineer — Traffic Signal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234423" y="6465827"/>
            <a:ext cx="2585723" cy="71123"/>
            <a:chOff x="0" y="0"/>
            <a:chExt cx="3447631" cy="9483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447669" cy="94869"/>
            </a:xfrm>
            <a:custGeom>
              <a:avLst/>
              <a:gdLst/>
              <a:ahLst/>
              <a:cxnLst/>
              <a:rect l="l" t="t" r="r" b="b"/>
              <a:pathLst>
                <a:path w="3447669" h="94869">
                  <a:moveTo>
                    <a:pt x="0" y="0"/>
                  </a:moveTo>
                  <a:lnTo>
                    <a:pt x="3447669" y="0"/>
                  </a:lnTo>
                  <a:lnTo>
                    <a:pt x="344766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3A8FD4"/>
            </a:solidFill>
            <a:ln w="25400" cap="sq">
              <a:solidFill>
                <a:srgbClr val="3A8FD4"/>
              </a:solidFill>
              <a:prstDash val="solid"/>
              <a:miter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11106407" y="6851523"/>
            <a:ext cx="2926080" cy="1434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FSM implementation.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asyncio pipeline.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harness.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audit logging,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density model</a:t>
            </a:r>
          </a:p>
          <a:p>
            <a:pPr marL="434340" lvl="1" indent="-217170" algn="ctr">
              <a:lnSpc>
                <a:spcPts val="2160"/>
              </a:lnSpc>
            </a:pPr>
            <a:endParaRPr lang="en-US" sz="18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14349727" y="1676143"/>
            <a:ext cx="3121657" cy="6962137"/>
            <a:chOff x="0" y="0"/>
            <a:chExt cx="4162209" cy="928284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162171" cy="9282811"/>
            </a:xfrm>
            <a:custGeom>
              <a:avLst/>
              <a:gdLst/>
              <a:ahLst/>
              <a:cxnLst/>
              <a:rect l="l" t="t" r="r" b="b"/>
              <a:pathLst>
                <a:path w="4162171" h="9282811">
                  <a:moveTo>
                    <a:pt x="0" y="0"/>
                  </a:moveTo>
                  <a:lnTo>
                    <a:pt x="4162171" y="0"/>
                  </a:lnTo>
                  <a:lnTo>
                    <a:pt x="4162171" y="9282811"/>
                  </a:lnTo>
                  <a:lnTo>
                    <a:pt x="0" y="92828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4343383" y="1669799"/>
            <a:ext cx="3134363" cy="153419"/>
            <a:chOff x="0" y="0"/>
            <a:chExt cx="4179151" cy="20455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179189" cy="204597"/>
            </a:xfrm>
            <a:custGeom>
              <a:avLst/>
              <a:gdLst/>
              <a:ahLst/>
              <a:cxnLst/>
              <a:rect l="l" t="t" r="r" b="b"/>
              <a:pathLst>
                <a:path w="4179189" h="204597">
                  <a:moveTo>
                    <a:pt x="0" y="0"/>
                  </a:moveTo>
                  <a:lnTo>
                    <a:pt x="4179189" y="0"/>
                  </a:lnTo>
                  <a:lnTo>
                    <a:pt x="4179189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14486125" y="4752851"/>
            <a:ext cx="2926080" cy="768096"/>
            <a:chOff x="0" y="0"/>
            <a:chExt cx="3901440" cy="102412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901440" cy="1024128"/>
            </a:xfrm>
            <a:custGeom>
              <a:avLst/>
              <a:gdLst/>
              <a:ahLst/>
              <a:cxnLst/>
              <a:rect l="l" t="t" r="r" b="b"/>
              <a:pathLst>
                <a:path w="3901440" h="1024128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8" b="-24228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390144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D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Salma Mahmoud Abdelhaleem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4356080" y="5583936"/>
            <a:ext cx="2926080" cy="640080"/>
            <a:chOff x="0" y="0"/>
            <a:chExt cx="3901440" cy="8534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901440" cy="853440"/>
            </a:xfrm>
            <a:custGeom>
              <a:avLst/>
              <a:gdLst/>
              <a:ahLst/>
              <a:cxnLst/>
              <a:rect l="l" t="t" r="r" b="b"/>
              <a:pathLst>
                <a:path w="3901440" h="853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074" b="-39074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390144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1E5C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AI Agent, Deployment 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1E5C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&amp; Dashboard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617703" y="6465827"/>
            <a:ext cx="2585723" cy="71123"/>
            <a:chOff x="0" y="0"/>
            <a:chExt cx="3447631" cy="9483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447669" cy="94869"/>
            </a:xfrm>
            <a:custGeom>
              <a:avLst/>
              <a:gdLst/>
              <a:ahLst/>
              <a:cxnLst/>
              <a:rect l="l" t="t" r="r" b="b"/>
              <a:pathLst>
                <a:path w="3447669" h="94869">
                  <a:moveTo>
                    <a:pt x="0" y="0"/>
                  </a:moveTo>
                  <a:lnTo>
                    <a:pt x="3447669" y="0"/>
                  </a:lnTo>
                  <a:lnTo>
                    <a:pt x="344766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3A8FD4"/>
            </a:solidFill>
            <a:ln w="25400" cap="sq">
              <a:solidFill>
                <a:srgbClr val="3A8FD4"/>
              </a:solidFill>
              <a:prstDash val="solid"/>
              <a:miter/>
            </a:ln>
          </p:spPr>
        </p:sp>
      </p:grpSp>
      <p:sp>
        <p:nvSpPr>
          <p:cNvPr id="75" name="TextBox 75"/>
          <p:cNvSpPr txBox="1"/>
          <p:nvPr/>
        </p:nvSpPr>
        <p:spPr>
          <a:xfrm>
            <a:off x="14486125" y="6867716"/>
            <a:ext cx="2926080" cy="160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n8n workflow.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dashboard.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violation model.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testing.</a:t>
            </a:r>
          </a:p>
          <a:p>
            <a:pPr marL="434340" lvl="1" indent="-21717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preparation.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499367" y="8710679"/>
            <a:ext cx="17307563" cy="903227"/>
            <a:chOff x="0" y="0"/>
            <a:chExt cx="23076751" cy="120430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3076788" cy="1204341"/>
            </a:xfrm>
            <a:custGeom>
              <a:avLst/>
              <a:gdLst/>
              <a:ahLst/>
              <a:cxnLst/>
              <a:rect l="l" t="t" r="r" b="b"/>
              <a:pathLst>
                <a:path w="23076788" h="1204341">
                  <a:moveTo>
                    <a:pt x="0" y="0"/>
                  </a:moveTo>
                  <a:lnTo>
                    <a:pt x="23076788" y="0"/>
                  </a:lnTo>
                  <a:lnTo>
                    <a:pt x="23076788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731520" y="8759952"/>
            <a:ext cx="16824960" cy="804672"/>
            <a:chOff x="0" y="0"/>
            <a:chExt cx="22433280" cy="107289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2433280" cy="1072896"/>
            </a:xfrm>
            <a:custGeom>
              <a:avLst/>
              <a:gdLst/>
              <a:ahLst/>
              <a:cxnLst/>
              <a:rect l="l" t="t" r="r" b="b"/>
              <a:pathLst>
                <a:path w="22433280" h="1072896">
                  <a:moveTo>
                    <a:pt x="0" y="0"/>
                  </a:moveTo>
                  <a:lnTo>
                    <a:pt x="22433280" y="0"/>
                  </a:lnTo>
                  <a:lnTo>
                    <a:pt x="224332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7414" b="-357414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22433280" cy="11109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Supervisor / Track Head: Dr. Rania ElGohary &amp; Dr. Mohamed El Badawi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80160" y="2026920"/>
            <a:ext cx="2194560" cy="2403977"/>
            <a:chOff x="0" y="0"/>
            <a:chExt cx="2926080" cy="320530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926080" cy="3205353"/>
            </a:xfrm>
            <a:custGeom>
              <a:avLst/>
              <a:gdLst/>
              <a:ahLst/>
              <a:cxnLst/>
              <a:rect l="l" t="t" r="r" b="b"/>
              <a:pathLst>
                <a:path w="2926080" h="3205353">
                  <a:moveTo>
                    <a:pt x="0" y="0"/>
                  </a:moveTo>
                  <a:lnTo>
                    <a:pt x="2926080" y="0"/>
                  </a:lnTo>
                  <a:lnTo>
                    <a:pt x="2926080" y="3205353"/>
                  </a:lnTo>
                  <a:lnTo>
                    <a:pt x="0" y="320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771" r="-4771" b="1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11490960" y="1993392"/>
            <a:ext cx="2316480" cy="2437514"/>
            <a:chOff x="0" y="0"/>
            <a:chExt cx="3088640" cy="3250019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088640" cy="3250057"/>
            </a:xfrm>
            <a:custGeom>
              <a:avLst/>
              <a:gdLst/>
              <a:ahLst/>
              <a:cxnLst/>
              <a:rect l="l" t="t" r="r" b="b"/>
              <a:pathLst>
                <a:path w="3088640" h="3250057">
                  <a:moveTo>
                    <a:pt x="0" y="0"/>
                  </a:moveTo>
                  <a:lnTo>
                    <a:pt x="3088640" y="0"/>
                  </a:lnTo>
                  <a:lnTo>
                    <a:pt x="3088640" y="3250057"/>
                  </a:lnTo>
                  <a:lnTo>
                    <a:pt x="0" y="325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12" r="-2612" b="1"/>
              </a:stretch>
            </a:blipFill>
          </p:spPr>
        </p:sp>
      </p:grpSp>
      <p:grpSp>
        <p:nvGrpSpPr>
          <p:cNvPr id="93" name="Group 93"/>
          <p:cNvGrpSpPr/>
          <p:nvPr/>
        </p:nvGrpSpPr>
        <p:grpSpPr>
          <a:xfrm>
            <a:off x="7846057" y="2055876"/>
            <a:ext cx="2562263" cy="2375021"/>
            <a:chOff x="0" y="0"/>
            <a:chExt cx="3416351" cy="316669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416300" cy="3166745"/>
            </a:xfrm>
            <a:custGeom>
              <a:avLst/>
              <a:gdLst/>
              <a:ahLst/>
              <a:cxnLst/>
              <a:rect l="l" t="t" r="r" b="b"/>
              <a:pathLst>
                <a:path w="3416300" h="3166745">
                  <a:moveTo>
                    <a:pt x="0" y="0"/>
                  </a:moveTo>
                  <a:lnTo>
                    <a:pt x="3416300" y="0"/>
                  </a:lnTo>
                  <a:lnTo>
                    <a:pt x="3416300" y="3166745"/>
                  </a:lnTo>
                  <a:lnTo>
                    <a:pt x="0" y="3166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4937" t="-18582" r="-73804" b="-138972"/>
              </a:stretch>
            </a:blipFill>
          </p:spPr>
        </p:sp>
      </p:grpSp>
      <p:grpSp>
        <p:nvGrpSpPr>
          <p:cNvPr id="95" name="Group 95"/>
          <p:cNvGrpSpPr/>
          <p:nvPr/>
        </p:nvGrpSpPr>
        <p:grpSpPr>
          <a:xfrm>
            <a:off x="14814042" y="2160651"/>
            <a:ext cx="2270255" cy="2270255"/>
            <a:chOff x="0" y="0"/>
            <a:chExt cx="3027007" cy="3027007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027045" cy="3027045"/>
            </a:xfrm>
            <a:custGeom>
              <a:avLst/>
              <a:gdLst/>
              <a:ahLst/>
              <a:cxnLst/>
              <a:rect l="l" t="t" r="r" b="b"/>
              <a:pathLst>
                <a:path w="3027045" h="3027045">
                  <a:moveTo>
                    <a:pt x="0" y="0"/>
                  </a:moveTo>
                  <a:lnTo>
                    <a:pt x="3027045" y="0"/>
                  </a:lnTo>
                  <a:lnTo>
                    <a:pt x="3027045" y="3027045"/>
                  </a:lnTo>
                  <a:lnTo>
                    <a:pt x="0" y="302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1"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>
            <a:off x="4513583" y="1847088"/>
            <a:ext cx="2560320" cy="2583809"/>
            <a:chOff x="0" y="0"/>
            <a:chExt cx="3413760" cy="344507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413760" cy="3445129"/>
            </a:xfrm>
            <a:custGeom>
              <a:avLst/>
              <a:gdLst/>
              <a:ahLst/>
              <a:cxnLst/>
              <a:rect l="l" t="t" r="r" b="b"/>
              <a:pathLst>
                <a:path w="3413760" h="3445129">
                  <a:moveTo>
                    <a:pt x="0" y="0"/>
                  </a:moveTo>
                  <a:lnTo>
                    <a:pt x="3413760" y="0"/>
                  </a:lnTo>
                  <a:lnTo>
                    <a:pt x="3413760" y="3445129"/>
                  </a:lnTo>
                  <a:lnTo>
                    <a:pt x="0" y="3445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4427" t="1982" r="-31966" b="-5695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99367" y="105413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99367" y="1669799"/>
            <a:ext cx="153419" cy="7706363"/>
            <a:chOff x="0" y="0"/>
            <a:chExt cx="204559" cy="102751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597" cy="10275189"/>
            </a:xfrm>
            <a:custGeom>
              <a:avLst/>
              <a:gdLst/>
              <a:ahLst/>
              <a:cxnLst/>
              <a:rect l="l" t="t" r="r" b="b"/>
              <a:pathLst>
                <a:path w="204597" h="10275189">
                  <a:moveTo>
                    <a:pt x="0" y="0"/>
                  </a:moveTo>
                  <a:lnTo>
                    <a:pt x="204597" y="0"/>
                  </a:lnTo>
                  <a:lnTo>
                    <a:pt x="204597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5760" y="908304"/>
            <a:ext cx="16093440" cy="457200"/>
            <a:chOff x="0" y="0"/>
            <a:chExt cx="21457920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Municipalities cannot continuously cover all streets — gaps in monitoring lead to delayed reporting and fragmented decision-making across authorities.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13973553" y="5284081"/>
            <a:ext cx="4131567" cy="3050588"/>
          </a:xfrm>
          <a:custGeom>
            <a:avLst/>
            <a:gdLst/>
            <a:ahLst/>
            <a:cxnLst/>
            <a:rect l="l" t="t" r="r" b="b"/>
            <a:pathLst>
              <a:path w="4131567" h="3050588">
                <a:moveTo>
                  <a:pt x="0" y="0"/>
                </a:moveTo>
                <a:lnTo>
                  <a:pt x="4131567" y="0"/>
                </a:lnTo>
                <a:lnTo>
                  <a:pt x="4131567" y="3050588"/>
                </a:lnTo>
                <a:lnTo>
                  <a:pt x="0" y="3050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69" t="-2932" r="-2169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770665" y="1885826"/>
            <a:ext cx="4048455" cy="3026780"/>
          </a:xfrm>
          <a:custGeom>
            <a:avLst/>
            <a:gdLst/>
            <a:ahLst/>
            <a:cxnLst/>
            <a:rect l="l" t="t" r="r" b="b"/>
            <a:pathLst>
              <a:path w="4048455" h="3026780">
                <a:moveTo>
                  <a:pt x="0" y="0"/>
                </a:moveTo>
                <a:lnTo>
                  <a:pt x="4048455" y="0"/>
                </a:lnTo>
                <a:lnTo>
                  <a:pt x="4048455" y="3026780"/>
                </a:lnTo>
                <a:lnTo>
                  <a:pt x="0" y="30267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957791" y="5284081"/>
            <a:ext cx="4422889" cy="3050588"/>
          </a:xfrm>
          <a:custGeom>
            <a:avLst/>
            <a:gdLst/>
            <a:ahLst/>
            <a:cxnLst/>
            <a:rect l="l" t="t" r="r" b="b"/>
            <a:pathLst>
              <a:path w="4422889" h="3050588">
                <a:moveTo>
                  <a:pt x="0" y="0"/>
                </a:moveTo>
                <a:lnTo>
                  <a:pt x="4422889" y="0"/>
                </a:lnTo>
                <a:lnTo>
                  <a:pt x="4422889" y="3050588"/>
                </a:lnTo>
                <a:lnTo>
                  <a:pt x="0" y="3050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14711" y="2232155"/>
            <a:ext cx="8143080" cy="666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1" lvl="1" indent="-265431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7474F"/>
                </a:solidFill>
                <a:latin typeface="Canva Sans"/>
                <a:ea typeface="Canva Sans"/>
                <a:cs typeface="Canva Sans"/>
                <a:sym typeface="Canva Sans"/>
              </a:rPr>
              <a:t>Urban streets in Egyptian cities face persistent sidewalk violations (illegal vendors, blocked pedestrian paths) forcing pedestrians into vehicle lanes.</a:t>
            </a:r>
          </a:p>
          <a:p>
            <a:pPr marL="530861" lvl="1" indent="-265431" algn="l">
              <a:lnSpc>
                <a:spcPts val="2640"/>
              </a:lnSpc>
            </a:pPr>
            <a:endParaRPr lang="en-US" sz="2200">
              <a:solidFill>
                <a:srgbClr val="37474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0861" lvl="1" indent="-265431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7474F"/>
                </a:solidFill>
                <a:latin typeface="Canva Sans"/>
                <a:ea typeface="Canva Sans"/>
                <a:cs typeface="Canva Sans"/>
                <a:sym typeface="Canva Sans"/>
              </a:rPr>
              <a:t>Road surface deterioration (potholes) goes undetected for long periods due to manual, scheduled inspections — increasing vehicle damage and maintenance costs.</a:t>
            </a:r>
          </a:p>
          <a:p>
            <a:pPr marL="530861" lvl="1" indent="-265431" algn="l">
              <a:lnSpc>
                <a:spcPts val="2640"/>
              </a:lnSpc>
            </a:pPr>
            <a:endParaRPr lang="en-US" sz="2200">
              <a:solidFill>
                <a:srgbClr val="37474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0861" lvl="1" indent="-265431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7474F"/>
                </a:solidFill>
                <a:latin typeface="Canva Sans"/>
                <a:ea typeface="Canva Sans"/>
                <a:cs typeface="Canva Sans"/>
                <a:sym typeface="Canva Sans"/>
              </a:rPr>
              <a:t>Most intersections use fixed-time signals ignoring real-time traffic density, causing unnecessary delays during peak hours.</a:t>
            </a:r>
          </a:p>
          <a:p>
            <a:pPr marL="530861" lvl="1" indent="-265431" algn="l">
              <a:lnSpc>
                <a:spcPts val="2640"/>
              </a:lnSpc>
            </a:pPr>
            <a:endParaRPr lang="en-US" sz="2200">
              <a:solidFill>
                <a:srgbClr val="37474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0861" lvl="1" indent="-265431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7474F"/>
                </a:solidFill>
                <a:latin typeface="Canva Sans"/>
                <a:ea typeface="Canva Sans"/>
                <a:cs typeface="Canva Sans"/>
                <a:sym typeface="Canva Sans"/>
              </a:rPr>
              <a:t>Emergency vehicles face intersection delays with no consistent prioritization mechanism, threatening life-saving response times.</a:t>
            </a:r>
          </a:p>
          <a:p>
            <a:pPr marL="530861" lvl="1" indent="-265431" algn="l">
              <a:lnSpc>
                <a:spcPts val="2640"/>
              </a:lnSpc>
            </a:pPr>
            <a:endParaRPr lang="en-US" sz="2200">
              <a:solidFill>
                <a:srgbClr val="37474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0861" lvl="1" indent="-265431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7474F"/>
                </a:solidFill>
                <a:latin typeface="Canva Sans"/>
                <a:ea typeface="Canva Sans"/>
                <a:cs typeface="Canva Sans"/>
                <a:sym typeface="Canva Sans"/>
              </a:rPr>
              <a:t>Existing solutions are fragmented, reactive, and rely on expensive dedicated hardware — with no integration between violation detection, road assessment, and signal control.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57200" y="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 &amp; Project Scope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05711" y="1676143"/>
            <a:ext cx="8333737" cy="7693657"/>
            <a:chOff x="0" y="0"/>
            <a:chExt cx="11111649" cy="102582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11611" cy="10258171"/>
            </a:xfrm>
            <a:custGeom>
              <a:avLst/>
              <a:gdLst/>
              <a:ahLst/>
              <a:cxnLst/>
              <a:rect l="l" t="t" r="r" b="b"/>
              <a:pathLst>
                <a:path w="11111611" h="10258171">
                  <a:moveTo>
                    <a:pt x="0" y="0"/>
                  </a:moveTo>
                  <a:lnTo>
                    <a:pt x="11111611" y="0"/>
                  </a:lnTo>
                  <a:lnTo>
                    <a:pt x="11111611" y="10258171"/>
                  </a:lnTo>
                  <a:lnTo>
                    <a:pt x="0" y="102581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99367" y="1669799"/>
            <a:ext cx="153419" cy="7706363"/>
            <a:chOff x="0" y="0"/>
            <a:chExt cx="204559" cy="10275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597" cy="10275189"/>
            </a:xfrm>
            <a:custGeom>
              <a:avLst/>
              <a:gdLst/>
              <a:ahLst/>
              <a:cxnLst/>
              <a:rect l="l" t="t" r="r" b="b"/>
              <a:pathLst>
                <a:path w="204597" h="10275189">
                  <a:moveTo>
                    <a:pt x="0" y="0"/>
                  </a:moveTo>
                  <a:lnTo>
                    <a:pt x="204597" y="0"/>
                  </a:lnTo>
                  <a:lnTo>
                    <a:pt x="204597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22960" y="1719072"/>
            <a:ext cx="7680960" cy="694944"/>
            <a:chOff x="0" y="0"/>
            <a:chExt cx="10241280" cy="9265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E5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Objectives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0263" y="2401319"/>
            <a:ext cx="7706363" cy="71123"/>
            <a:chOff x="0" y="0"/>
            <a:chExt cx="10275151" cy="948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75189" cy="94869"/>
            </a:xfrm>
            <a:custGeom>
              <a:avLst/>
              <a:gdLst/>
              <a:ahLst/>
              <a:cxnLst/>
              <a:rect l="l" t="t" r="r" b="b"/>
              <a:pathLst>
                <a:path w="10275189" h="94869">
                  <a:moveTo>
                    <a:pt x="0" y="0"/>
                  </a:moveTo>
                  <a:lnTo>
                    <a:pt x="10275189" y="0"/>
                  </a:lnTo>
                  <a:lnTo>
                    <a:pt x="1027518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3A8FD4"/>
            </a:solidFill>
            <a:ln w="25400" cap="sq">
              <a:solidFill>
                <a:srgbClr val="3A8FD4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14400" y="2550414"/>
            <a:ext cx="7498080" cy="632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/>
              <a:buChar char="•"/>
            </a:pPr>
            <a:r>
              <a:rPr lang="en-US" sz="2200" b="1">
                <a:solidFill>
                  <a:srgbClr val="3747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1: </a:t>
            </a:r>
            <a:r>
              <a:rPr lang="en-US" sz="22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 integrated AI pipeline combining YOLOv8, DeepLabV3+, and MiDaS with rule-based ViolationEngine for depth-aware sidewalk violation detection.</a:t>
            </a:r>
          </a:p>
          <a:p>
            <a:pPr marL="530860" lvl="1" indent="-265430" algn="l">
              <a:lnSpc>
                <a:spcPts val="2640"/>
              </a:lnSpc>
            </a:pPr>
            <a:endParaRPr lang="en-US" sz="22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30860" lvl="1" indent="-265430" algn="l">
              <a:lnSpc>
                <a:spcPts val="2640"/>
              </a:lnSpc>
              <a:buFont typeface="Arial"/>
              <a:buChar char="•"/>
            </a:pPr>
            <a:r>
              <a:rPr lang="en-US" sz="2200" b="1">
                <a:solidFill>
                  <a:srgbClr val="3747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2: </a:t>
            </a:r>
            <a:r>
              <a:rPr lang="en-US" sz="22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severity-classified pothole detection (low/medium/high) using YOLOv8 fine-tuned on Egyptian road imagery, with automated municipal dispatch.</a:t>
            </a:r>
          </a:p>
          <a:p>
            <a:pPr marL="530860" lvl="1" indent="-265430" algn="l">
              <a:lnSpc>
                <a:spcPts val="2640"/>
              </a:lnSpc>
            </a:pPr>
            <a:endParaRPr lang="en-US" sz="22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30860" lvl="1" indent="-265430" algn="l">
              <a:lnSpc>
                <a:spcPts val="2640"/>
              </a:lnSpc>
              <a:buFont typeface="Arial"/>
              <a:buChar char="•"/>
            </a:pPr>
            <a:r>
              <a:rPr lang="en-US" sz="2200" b="1">
                <a:solidFill>
                  <a:srgbClr val="3747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3: </a:t>
            </a:r>
            <a:r>
              <a:rPr lang="en-US" sz="22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formally specified FSM-based adaptive traffic signal controller (LaneOrchestrator) with pedestrian safety constraints and emergency vehicle preemption.</a:t>
            </a:r>
          </a:p>
          <a:p>
            <a:pPr marL="530860" lvl="1" indent="-265430" algn="l">
              <a:lnSpc>
                <a:spcPts val="2640"/>
              </a:lnSpc>
            </a:pPr>
            <a:endParaRPr lang="en-US" sz="22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30860" lvl="1" indent="-265430" algn="l">
              <a:lnSpc>
                <a:spcPts val="2640"/>
              </a:lnSpc>
              <a:buFont typeface="Arial"/>
              <a:buChar char="•"/>
            </a:pPr>
            <a:r>
              <a:rPr lang="en-US" sz="2200" b="1">
                <a:solidFill>
                  <a:srgbClr val="37474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4: </a:t>
            </a:r>
            <a:r>
              <a:rPr lang="en-US" sz="22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a Streamlit authority dashboard + n8n automation pipeline with full audit logging, demonstrated through integration testing across images, videos, and live streams.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48543" y="2252215"/>
            <a:ext cx="8333737" cy="7117585"/>
            <a:chOff x="0" y="0"/>
            <a:chExt cx="11111649" cy="94901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111611" cy="9490075"/>
            </a:xfrm>
            <a:custGeom>
              <a:avLst/>
              <a:gdLst/>
              <a:ahLst/>
              <a:cxnLst/>
              <a:rect l="l" t="t" r="r" b="b"/>
              <a:pathLst>
                <a:path w="11111611" h="9490075">
                  <a:moveTo>
                    <a:pt x="0" y="0"/>
                  </a:moveTo>
                  <a:lnTo>
                    <a:pt x="11111611" y="0"/>
                  </a:lnTo>
                  <a:lnTo>
                    <a:pt x="11111611" y="9490075"/>
                  </a:lnTo>
                  <a:lnTo>
                    <a:pt x="0" y="949007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442199" y="2245871"/>
            <a:ext cx="153419" cy="7130291"/>
            <a:chOff x="0" y="0"/>
            <a:chExt cx="204559" cy="950705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4597" cy="9507093"/>
            </a:xfrm>
            <a:custGeom>
              <a:avLst/>
              <a:gdLst/>
              <a:ahLst/>
              <a:cxnLst/>
              <a:rect l="l" t="t" r="r" b="b"/>
              <a:pathLst>
                <a:path w="204597" h="9507093">
                  <a:moveTo>
                    <a:pt x="0" y="0"/>
                  </a:moveTo>
                  <a:lnTo>
                    <a:pt x="204597" y="0"/>
                  </a:lnTo>
                  <a:lnTo>
                    <a:pt x="204597" y="9507093"/>
                  </a:lnTo>
                  <a:lnTo>
                    <a:pt x="0" y="9507093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692640" y="2347465"/>
            <a:ext cx="7680960" cy="694944"/>
            <a:chOff x="0" y="0"/>
            <a:chExt cx="10241280" cy="926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E5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What’s In Scope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826247" y="3061716"/>
            <a:ext cx="7706363" cy="71123"/>
            <a:chOff x="0" y="0"/>
            <a:chExt cx="10275151" cy="9483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75189" cy="94869"/>
            </a:xfrm>
            <a:custGeom>
              <a:avLst/>
              <a:gdLst/>
              <a:ahLst/>
              <a:cxnLst/>
              <a:rect l="l" t="t" r="r" b="b"/>
              <a:pathLst>
                <a:path w="10275189" h="94869">
                  <a:moveTo>
                    <a:pt x="0" y="0"/>
                  </a:moveTo>
                  <a:lnTo>
                    <a:pt x="10275189" y="0"/>
                  </a:lnTo>
                  <a:lnTo>
                    <a:pt x="1027518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9875520" y="3245358"/>
            <a:ext cx="7498080" cy="632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i="1">
                <a:solidFill>
                  <a:srgbClr val="37474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Real-time violation detection </a:t>
            </a:r>
          </a:p>
          <a:p>
            <a:pPr algn="l">
              <a:lnSpc>
                <a:spcPts val="2400"/>
              </a:lnSpc>
            </a:pPr>
            <a:r>
              <a:rPr lang="en-US" sz="2000" i="1">
                <a:solidFill>
                  <a:srgbClr val="37474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(3-model pipeline: YOLOv8 +DeepLabV3+ + MiDaS)</a:t>
            </a:r>
          </a:p>
          <a:p>
            <a:pPr algn="l">
              <a:lnSpc>
                <a:spcPts val="2879"/>
              </a:lnSpc>
            </a:pPr>
            <a:endParaRPr lang="en-US" sz="2000" i="1">
              <a:solidFill>
                <a:srgbClr val="37474F"/>
              </a:solidFill>
              <a:latin typeface="Times New Roman Italics"/>
              <a:ea typeface="Times New Roman Italics"/>
              <a:cs typeface="Times New Roman Italics"/>
              <a:sym typeface="Times New Roman Italics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E5C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Pothole detection and severity classification with automated maintenance alerts via n8n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E5C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traffic signal control with emergency vehicle preemption (FSM-based LaneOrchestrator)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E5C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Streamlit authority dashboard with live monitoring and historical reporting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E5C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Operates on existing CCTV infrastructure — zero new hardware required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E5C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incident management: detection → alert → authority notification in under 2 minutes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57200" y="1028700"/>
            <a:ext cx="16093440" cy="457200"/>
            <a:chOff x="0" y="0"/>
            <a:chExt cx="21457920" cy="609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All 4 modules share a common data flow — a single camera feed simultaneously feeds violation detection, road damage assessment, and adaptive signal control.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</p:spTree>
  </p:cSld>
  <p:clrMapOvr>
    <a:masterClrMapping/>
  </p:clrMapOvr>
  <p:transition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76077" y="-12697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05711" y="1676143"/>
            <a:ext cx="17294857" cy="7693657"/>
            <a:chOff x="0" y="0"/>
            <a:chExt cx="23059809" cy="102582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59771" cy="10258171"/>
            </a:xfrm>
            <a:custGeom>
              <a:avLst/>
              <a:gdLst/>
              <a:ahLst/>
              <a:cxnLst/>
              <a:rect l="l" t="t" r="r" b="b"/>
              <a:pathLst>
                <a:path w="23059771" h="10258171">
                  <a:moveTo>
                    <a:pt x="0" y="0"/>
                  </a:moveTo>
                  <a:lnTo>
                    <a:pt x="23059771" y="0"/>
                  </a:lnTo>
                  <a:lnTo>
                    <a:pt x="23059771" y="10258171"/>
                  </a:lnTo>
                  <a:lnTo>
                    <a:pt x="0" y="102581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99367" y="1669799"/>
            <a:ext cx="153419" cy="7706363"/>
            <a:chOff x="0" y="0"/>
            <a:chExt cx="204559" cy="10275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597" cy="10275189"/>
            </a:xfrm>
            <a:custGeom>
              <a:avLst/>
              <a:gdLst/>
              <a:ahLst/>
              <a:cxnLst/>
              <a:rect l="l" t="t" r="r" b="b"/>
              <a:pathLst>
                <a:path w="204597" h="10275189">
                  <a:moveTo>
                    <a:pt x="0" y="0"/>
                  </a:moveTo>
                  <a:lnTo>
                    <a:pt x="204597" y="0"/>
                  </a:lnTo>
                  <a:lnTo>
                    <a:pt x="204597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05840" y="1864995"/>
            <a:ext cx="16459200" cy="723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VELORA is a unified AI platform for intelligent road monitoring, urban violation detection, road surface assessment, and adaptive traffic management — all on existing camera infrastructure.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cooperating modules: Street Violation Detection | Pothole Detection &amp; Road Damage Assessment | Traffic Signal Controller | n8n Incident Management Pipeline.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3-model perception pipeline (YOLOv8 → DeepLabV3+ → MiDaS) processes each frame: object detection, pixel-level sidewalk segmentation, and depth estimation for context-aware violation decisions.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detections feed an n8n event-driven workflow dispatching automated alerts to enforcement bureaus, municipal maintenance, and the LaneOrchestrator emergency protocol.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authority dashboard gives personnel real-time visibility into violations, road damage, signals, and alerts — with human review before any citation becomes formal enforcement.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Delivers faster incident response, proactive maintenance scheduling, and guaranteed emergency vehicle transit without dedicated sensor hardware investment.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41890" y="1055122"/>
            <a:ext cx="16093440" cy="457200"/>
            <a:chOff x="0" y="0"/>
            <a:chExt cx="21457920" cy="60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No comparable open-source platform combines all 4 capabilities (violation detection, road damage, adaptive signals, emergency preemption) in one unified system.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8244" y="1677424"/>
            <a:ext cx="16065356" cy="7745978"/>
            <a:chOff x="0" y="0"/>
            <a:chExt cx="23945088" cy="115452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945087" cy="11545224"/>
            </a:xfrm>
            <a:custGeom>
              <a:avLst/>
              <a:gdLst/>
              <a:ahLst/>
              <a:cxnLst/>
              <a:rect l="l" t="t" r="r" b="b"/>
              <a:pathLst>
                <a:path w="23945087" h="11545224">
                  <a:moveTo>
                    <a:pt x="0" y="0"/>
                  </a:moveTo>
                  <a:lnTo>
                    <a:pt x="23945087" y="0"/>
                  </a:lnTo>
                  <a:lnTo>
                    <a:pt x="23945087" y="11545224"/>
                  </a:lnTo>
                  <a:lnTo>
                    <a:pt x="0" y="11545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879" b="-7879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Violation Detection Model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3724885" y="1512322"/>
            <a:ext cx="12094235" cy="8057784"/>
          </a:xfrm>
          <a:custGeom>
            <a:avLst/>
            <a:gdLst/>
            <a:ahLst/>
            <a:cxnLst/>
            <a:rect l="l" t="t" r="r" b="b"/>
            <a:pathLst>
              <a:path w="12094235" h="8057784">
                <a:moveTo>
                  <a:pt x="0" y="0"/>
                </a:moveTo>
                <a:lnTo>
                  <a:pt x="12094235" y="0"/>
                </a:lnTo>
                <a:lnTo>
                  <a:pt x="12094235" y="8057784"/>
                </a:lnTo>
                <a:lnTo>
                  <a:pt x="0" y="8057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Pothole Detection Model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3697273" y="1512322"/>
            <a:ext cx="12121847" cy="8076181"/>
          </a:xfrm>
          <a:custGeom>
            <a:avLst/>
            <a:gdLst/>
            <a:ahLst/>
            <a:cxnLst/>
            <a:rect l="l" t="t" r="r" b="b"/>
            <a:pathLst>
              <a:path w="12121847" h="8076181">
                <a:moveTo>
                  <a:pt x="0" y="0"/>
                </a:moveTo>
                <a:lnTo>
                  <a:pt x="12121847" y="0"/>
                </a:lnTo>
                <a:lnTo>
                  <a:pt x="12121847" y="8076181"/>
                </a:lnTo>
                <a:lnTo>
                  <a:pt x="0" y="8076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Traffic Light Controler 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1890" y="2086993"/>
            <a:ext cx="17763230" cy="6417010"/>
            <a:chOff x="0" y="0"/>
            <a:chExt cx="34783619" cy="125656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4783616" cy="12565668"/>
            </a:xfrm>
            <a:custGeom>
              <a:avLst/>
              <a:gdLst/>
              <a:ahLst/>
              <a:cxnLst/>
              <a:rect l="l" t="t" r="r" b="b"/>
              <a:pathLst>
                <a:path w="34783616" h="12565668">
                  <a:moveTo>
                    <a:pt x="0" y="0"/>
                  </a:moveTo>
                  <a:lnTo>
                    <a:pt x="34783616" y="0"/>
                  </a:lnTo>
                  <a:lnTo>
                    <a:pt x="34783616" y="12565668"/>
                  </a:lnTo>
                  <a:lnTo>
                    <a:pt x="0" y="12565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85" r="-685"/>
              </a:stretch>
            </a:blipFill>
          </p:spPr>
        </p:sp>
      </p:grpSp>
    </p:spTree>
  </p:cSld>
  <p:clrMapOvr>
    <a:masterClrMapping/>
  </p:clrMapOvr>
  <p:transition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Traffic Light Controler 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1735" y="2596884"/>
            <a:ext cx="17928972" cy="5802912"/>
            <a:chOff x="0" y="0"/>
            <a:chExt cx="36585320" cy="118412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585317" cy="11841247"/>
            </a:xfrm>
            <a:custGeom>
              <a:avLst/>
              <a:gdLst/>
              <a:ahLst/>
              <a:cxnLst/>
              <a:rect l="l" t="t" r="r" b="b"/>
              <a:pathLst>
                <a:path w="36585317" h="11841247">
                  <a:moveTo>
                    <a:pt x="0" y="0"/>
                  </a:moveTo>
                  <a:lnTo>
                    <a:pt x="36585317" y="0"/>
                  </a:lnTo>
                  <a:lnTo>
                    <a:pt x="36585317" y="11841247"/>
                  </a:lnTo>
                  <a:lnTo>
                    <a:pt x="0" y="11841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48" r="-1748"/>
              </a:stretch>
            </a:blipFill>
          </p:spPr>
        </p:sp>
      </p:grp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Unified Automation Gateway &amp; Event Routing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3650766" y="1512322"/>
            <a:ext cx="12168354" cy="8107166"/>
          </a:xfrm>
          <a:custGeom>
            <a:avLst/>
            <a:gdLst/>
            <a:ahLst/>
            <a:cxnLst/>
            <a:rect l="l" t="t" r="r" b="b"/>
            <a:pathLst>
              <a:path w="12168354" h="8107166">
                <a:moveTo>
                  <a:pt x="0" y="0"/>
                </a:moveTo>
                <a:lnTo>
                  <a:pt x="12168354" y="0"/>
                </a:lnTo>
                <a:lnTo>
                  <a:pt x="12168354" y="8107166"/>
                </a:lnTo>
                <a:lnTo>
                  <a:pt x="0" y="8107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&amp; Demo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94944" y="1737360"/>
            <a:ext cx="7955280" cy="5669280"/>
            <a:chOff x="0" y="0"/>
            <a:chExt cx="10607040" cy="7559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07040" cy="7559040"/>
            </a:xfrm>
            <a:custGeom>
              <a:avLst/>
              <a:gdLst/>
              <a:ahLst/>
              <a:cxnLst/>
              <a:rect l="l" t="t" r="r" b="b"/>
              <a:pathLst>
                <a:path w="10607040" h="7559040">
                  <a:moveTo>
                    <a:pt x="0" y="0"/>
                  </a:moveTo>
                  <a:lnTo>
                    <a:pt x="10607040" y="0"/>
                  </a:lnTo>
                  <a:lnTo>
                    <a:pt x="10607040" y="7559040"/>
                  </a:lnTo>
                  <a:lnTo>
                    <a:pt x="0" y="7559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434" r="-4143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607040" cy="7597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Screenshot / Demo 1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[Insert Streamlit dashboard screenshot showing annotated violation detection output]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37776" y="1737360"/>
            <a:ext cx="7955280" cy="5669280"/>
            <a:chOff x="0" y="0"/>
            <a:chExt cx="10607040" cy="75590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07040" cy="7559040"/>
            </a:xfrm>
            <a:custGeom>
              <a:avLst/>
              <a:gdLst/>
              <a:ahLst/>
              <a:cxnLst/>
              <a:rect l="l" t="t" r="r" b="b"/>
              <a:pathLst>
                <a:path w="10607040" h="7559040">
                  <a:moveTo>
                    <a:pt x="0" y="0"/>
                  </a:moveTo>
                  <a:lnTo>
                    <a:pt x="10607040" y="0"/>
                  </a:lnTo>
                  <a:lnTo>
                    <a:pt x="10607040" y="7559040"/>
                  </a:lnTo>
                  <a:lnTo>
                    <a:pt x="0" y="7559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1434" r="-4143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607040" cy="7597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Screenshot / Demo 2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[Insert pothole severity classification output or LaneOrchestrator Pygame simulation]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29184" y="1508760"/>
            <a:ext cx="17958816" cy="8110728"/>
            <a:chOff x="0" y="0"/>
            <a:chExt cx="23945088" cy="1081430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3945087" cy="10814304"/>
            </a:xfrm>
            <a:custGeom>
              <a:avLst/>
              <a:gdLst/>
              <a:ahLst/>
              <a:cxnLst/>
              <a:rect l="l" t="t" r="r" b="b"/>
              <a:pathLst>
                <a:path w="23945087" h="10814304">
                  <a:moveTo>
                    <a:pt x="0" y="0"/>
                  </a:moveTo>
                  <a:lnTo>
                    <a:pt x="23945087" y="0"/>
                  </a:lnTo>
                  <a:lnTo>
                    <a:pt x="23945087" y="10814304"/>
                  </a:lnTo>
                  <a:lnTo>
                    <a:pt x="0" y="10814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26" b="-2326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Workflow / Use Case Diagram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93014" y="1663446"/>
            <a:ext cx="17320260" cy="6896100"/>
            <a:chOff x="0" y="0"/>
            <a:chExt cx="23093680" cy="9194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93680" cy="9194800"/>
            </a:xfrm>
            <a:custGeom>
              <a:avLst/>
              <a:gdLst/>
              <a:ahLst/>
              <a:cxnLst/>
              <a:rect l="l" t="t" r="r" b="b"/>
              <a:pathLst>
                <a:path w="23093680" h="9194800">
                  <a:moveTo>
                    <a:pt x="0" y="0"/>
                  </a:moveTo>
                  <a:lnTo>
                    <a:pt x="23093680" y="0"/>
                  </a:lnTo>
                  <a:lnTo>
                    <a:pt x="23093680" y="9194800"/>
                  </a:lnTo>
                  <a:lnTo>
                    <a:pt x="0" y="9194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AEEF"/>
              </a:solidFill>
              <a:prstDash val="dash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597" y="1532639"/>
            <a:ext cx="17984219" cy="8055864"/>
            <a:chOff x="0" y="0"/>
            <a:chExt cx="23978959" cy="107411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978921" cy="10741152"/>
            </a:xfrm>
            <a:custGeom>
              <a:avLst/>
              <a:gdLst/>
              <a:ahLst/>
              <a:cxnLst/>
              <a:rect l="l" t="t" r="r" b="b"/>
              <a:pathLst>
                <a:path w="23978921" h="10741152">
                  <a:moveTo>
                    <a:pt x="0" y="0"/>
                  </a:moveTo>
                  <a:lnTo>
                    <a:pt x="23978921" y="0"/>
                  </a:lnTo>
                  <a:lnTo>
                    <a:pt x="23978921" y="10741152"/>
                  </a:lnTo>
                  <a:lnTo>
                    <a:pt x="0" y="10741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6" b="-1206"/>
              </a:stretch>
            </a:blipFill>
          </p:spPr>
        </p:sp>
      </p:grpSp>
    </p:spTree>
  </p:cSld>
  <p:clrMapOvr>
    <a:masterClrMapping/>
  </p:clrMapOvr>
  <p:transition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42287" y="1731007"/>
            <a:ext cx="5499097" cy="3395977"/>
            <a:chOff x="0" y="0"/>
            <a:chExt cx="7332129" cy="45279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32091" cy="4527931"/>
            </a:xfrm>
            <a:custGeom>
              <a:avLst/>
              <a:gdLst/>
              <a:ahLst/>
              <a:cxnLst/>
              <a:rect l="l" t="t" r="r" b="b"/>
              <a:pathLst>
                <a:path w="7332091" h="4527931">
                  <a:moveTo>
                    <a:pt x="0" y="0"/>
                  </a:moveTo>
                  <a:lnTo>
                    <a:pt x="7332091" y="0"/>
                  </a:lnTo>
                  <a:lnTo>
                    <a:pt x="73320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35943" y="1724663"/>
            <a:ext cx="5511803" cy="793499"/>
            <a:chOff x="0" y="0"/>
            <a:chExt cx="7349071" cy="10579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49109" cy="1058037"/>
            </a:xfrm>
            <a:custGeom>
              <a:avLst/>
              <a:gdLst/>
              <a:ahLst/>
              <a:cxnLst/>
              <a:rect l="l" t="t" r="r" b="b"/>
              <a:pathLst>
                <a:path w="7349109" h="1058037">
                  <a:moveTo>
                    <a:pt x="0" y="0"/>
                  </a:moveTo>
                  <a:lnTo>
                    <a:pt x="7349109" y="0"/>
                  </a:lnTo>
                  <a:lnTo>
                    <a:pt x="73491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1E5CA8"/>
            </a:solidFill>
            <a:ln w="25400" cap="sq">
              <a:solidFill>
                <a:srgbClr val="1E5CA8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94944" y="1737360"/>
            <a:ext cx="5193792" cy="768096"/>
            <a:chOff x="0" y="0"/>
            <a:chExt cx="6925056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25056" cy="1024128"/>
            </a:xfrm>
            <a:custGeom>
              <a:avLst/>
              <a:gdLst/>
              <a:ahLst/>
              <a:cxnLst/>
              <a:rect l="l" t="t" r="r" b="b"/>
              <a:pathLst>
                <a:path w="6925056" h="1024128">
                  <a:moveTo>
                    <a:pt x="0" y="0"/>
                  </a:moveTo>
                  <a:lnTo>
                    <a:pt x="6925056" y="0"/>
                  </a:lnTo>
                  <a:lnTo>
                    <a:pt x="692505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755" b="-8175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925056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4944" y="2578608"/>
            <a:ext cx="5193792" cy="2377440"/>
            <a:chOff x="0" y="0"/>
            <a:chExt cx="6925056" cy="31699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25056" cy="3169920"/>
            </a:xfrm>
            <a:custGeom>
              <a:avLst/>
              <a:gdLst/>
              <a:ahLst/>
              <a:cxnLst/>
              <a:rect l="l" t="t" r="r" b="b"/>
              <a:pathLst>
                <a:path w="6925056" h="3169920">
                  <a:moveTo>
                    <a:pt x="0" y="0"/>
                  </a:moveTo>
                  <a:lnTo>
                    <a:pt x="6925056" y="0"/>
                  </a:lnTo>
                  <a:lnTo>
                    <a:pt x="6925056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730" r="-873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6925056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Streamlit (Authority Dashboard)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Simulation Using Pygame</a:t>
              </a:r>
            </a:p>
            <a:p>
              <a:pPr algn="ctr">
                <a:lnSpc>
                  <a:spcPts val="2640"/>
                </a:lnSpc>
              </a:pPr>
              <a:endParaRPr lang="en-US" sz="2200" i="1">
                <a:solidFill>
                  <a:srgbClr val="37474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94447" y="1731007"/>
            <a:ext cx="5499097" cy="3395977"/>
            <a:chOff x="0" y="0"/>
            <a:chExt cx="7332129" cy="45279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32091" cy="4527931"/>
            </a:xfrm>
            <a:custGeom>
              <a:avLst/>
              <a:gdLst/>
              <a:ahLst/>
              <a:cxnLst/>
              <a:rect l="l" t="t" r="r" b="b"/>
              <a:pathLst>
                <a:path w="7332091" h="4527931">
                  <a:moveTo>
                    <a:pt x="0" y="0"/>
                  </a:moveTo>
                  <a:lnTo>
                    <a:pt x="7332091" y="0"/>
                  </a:lnTo>
                  <a:lnTo>
                    <a:pt x="73320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388103" y="1724663"/>
            <a:ext cx="5511803" cy="793499"/>
            <a:chOff x="0" y="0"/>
            <a:chExt cx="7349071" cy="10579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49109" cy="1058037"/>
            </a:xfrm>
            <a:custGeom>
              <a:avLst/>
              <a:gdLst/>
              <a:ahLst/>
              <a:cxnLst/>
              <a:rect l="l" t="t" r="r" b="b"/>
              <a:pathLst>
                <a:path w="7349109" h="1058037">
                  <a:moveTo>
                    <a:pt x="0" y="0"/>
                  </a:moveTo>
                  <a:lnTo>
                    <a:pt x="7349109" y="0"/>
                  </a:lnTo>
                  <a:lnTo>
                    <a:pt x="73491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3A8FD4"/>
            </a:solidFill>
            <a:ln w="25400" cap="sq">
              <a:solidFill>
                <a:srgbClr val="3A8FD4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547104" y="1737360"/>
            <a:ext cx="5193792" cy="768096"/>
            <a:chOff x="0" y="0"/>
            <a:chExt cx="6925056" cy="10241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25056" cy="1024128"/>
            </a:xfrm>
            <a:custGeom>
              <a:avLst/>
              <a:gdLst/>
              <a:ahLst/>
              <a:cxnLst/>
              <a:rect l="l" t="t" r="r" b="b"/>
              <a:pathLst>
                <a:path w="6925056" h="1024128">
                  <a:moveTo>
                    <a:pt x="0" y="0"/>
                  </a:moveTo>
                  <a:lnTo>
                    <a:pt x="6925056" y="0"/>
                  </a:lnTo>
                  <a:lnTo>
                    <a:pt x="692505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755" b="-8175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925056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47104" y="2578608"/>
            <a:ext cx="5193792" cy="2377440"/>
            <a:chOff x="0" y="0"/>
            <a:chExt cx="6925056" cy="31699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25056" cy="3169920"/>
            </a:xfrm>
            <a:custGeom>
              <a:avLst/>
              <a:gdLst/>
              <a:ahLst/>
              <a:cxnLst/>
              <a:rect l="l" t="t" r="r" b="b"/>
              <a:pathLst>
                <a:path w="6925056" h="3169920">
                  <a:moveTo>
                    <a:pt x="0" y="0"/>
                  </a:moveTo>
                  <a:lnTo>
                    <a:pt x="6925056" y="0"/>
                  </a:lnTo>
                  <a:lnTo>
                    <a:pt x="6925056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730" r="-873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6925056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Python + Flask + OpenCV 4.8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246607" y="1731007"/>
            <a:ext cx="5499097" cy="3395977"/>
            <a:chOff x="0" y="0"/>
            <a:chExt cx="7332129" cy="452796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32091" cy="4527931"/>
            </a:xfrm>
            <a:custGeom>
              <a:avLst/>
              <a:gdLst/>
              <a:ahLst/>
              <a:cxnLst/>
              <a:rect l="l" t="t" r="r" b="b"/>
              <a:pathLst>
                <a:path w="7332091" h="4527931">
                  <a:moveTo>
                    <a:pt x="0" y="0"/>
                  </a:moveTo>
                  <a:lnTo>
                    <a:pt x="7332091" y="0"/>
                  </a:lnTo>
                  <a:lnTo>
                    <a:pt x="73320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2240263" y="1724663"/>
            <a:ext cx="5511803" cy="793499"/>
            <a:chOff x="0" y="0"/>
            <a:chExt cx="7349071" cy="105799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49109" cy="1058037"/>
            </a:xfrm>
            <a:custGeom>
              <a:avLst/>
              <a:gdLst/>
              <a:ahLst/>
              <a:cxnLst/>
              <a:rect l="l" t="t" r="r" b="b"/>
              <a:pathLst>
                <a:path w="7349109" h="1058037">
                  <a:moveTo>
                    <a:pt x="0" y="0"/>
                  </a:moveTo>
                  <a:lnTo>
                    <a:pt x="7349109" y="0"/>
                  </a:lnTo>
                  <a:lnTo>
                    <a:pt x="73491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2399264" y="1737360"/>
            <a:ext cx="5193792" cy="768096"/>
            <a:chOff x="0" y="0"/>
            <a:chExt cx="6925056" cy="10241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925056" cy="1024128"/>
            </a:xfrm>
            <a:custGeom>
              <a:avLst/>
              <a:gdLst/>
              <a:ahLst/>
              <a:cxnLst/>
              <a:rect l="l" t="t" r="r" b="b"/>
              <a:pathLst>
                <a:path w="6925056" h="1024128">
                  <a:moveTo>
                    <a:pt x="0" y="0"/>
                  </a:moveTo>
                  <a:lnTo>
                    <a:pt x="6925056" y="0"/>
                  </a:lnTo>
                  <a:lnTo>
                    <a:pt x="692505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755" b="-8175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925056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399264" y="2578608"/>
            <a:ext cx="5193792" cy="2377440"/>
            <a:chOff x="0" y="0"/>
            <a:chExt cx="6925056" cy="31699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925056" cy="3169920"/>
            </a:xfrm>
            <a:custGeom>
              <a:avLst/>
              <a:gdLst/>
              <a:ahLst/>
              <a:cxnLst/>
              <a:rect l="l" t="t" r="r" b="b"/>
              <a:pathLst>
                <a:path w="6925056" h="3169920">
                  <a:moveTo>
                    <a:pt x="0" y="0"/>
                  </a:moveTo>
                  <a:lnTo>
                    <a:pt x="6925056" y="0"/>
                  </a:lnTo>
                  <a:lnTo>
                    <a:pt x="6925056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730" r="-873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6925056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Structured CSV + JSON file-based logs | n8n Workflow Automation/ images dataset collected and annotated manually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42287" y="5571487"/>
            <a:ext cx="5499097" cy="3395977"/>
            <a:chOff x="0" y="0"/>
            <a:chExt cx="7332129" cy="452796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32091" cy="4527931"/>
            </a:xfrm>
            <a:custGeom>
              <a:avLst/>
              <a:gdLst/>
              <a:ahLst/>
              <a:cxnLst/>
              <a:rect l="l" t="t" r="r" b="b"/>
              <a:pathLst>
                <a:path w="7332091" h="4527931">
                  <a:moveTo>
                    <a:pt x="0" y="0"/>
                  </a:moveTo>
                  <a:lnTo>
                    <a:pt x="7332091" y="0"/>
                  </a:lnTo>
                  <a:lnTo>
                    <a:pt x="73320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35943" y="5565143"/>
            <a:ext cx="5511803" cy="793499"/>
            <a:chOff x="0" y="0"/>
            <a:chExt cx="7349071" cy="105799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49109" cy="1058037"/>
            </a:xfrm>
            <a:custGeom>
              <a:avLst/>
              <a:gdLst/>
              <a:ahLst/>
              <a:cxnLst/>
              <a:rect l="l" t="t" r="r" b="b"/>
              <a:pathLst>
                <a:path w="7349109" h="1058037">
                  <a:moveTo>
                    <a:pt x="0" y="0"/>
                  </a:moveTo>
                  <a:lnTo>
                    <a:pt x="7349109" y="0"/>
                  </a:lnTo>
                  <a:lnTo>
                    <a:pt x="73491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694944" y="5577840"/>
            <a:ext cx="5193792" cy="768096"/>
            <a:chOff x="0" y="0"/>
            <a:chExt cx="6925056" cy="102412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925056" cy="1024128"/>
            </a:xfrm>
            <a:custGeom>
              <a:avLst/>
              <a:gdLst/>
              <a:ahLst/>
              <a:cxnLst/>
              <a:rect l="l" t="t" r="r" b="b"/>
              <a:pathLst>
                <a:path w="6925056" h="1024128">
                  <a:moveTo>
                    <a:pt x="0" y="0"/>
                  </a:moveTo>
                  <a:lnTo>
                    <a:pt x="6925056" y="0"/>
                  </a:lnTo>
                  <a:lnTo>
                    <a:pt x="692505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755" b="-8175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6925056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/ ML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94944" y="6419088"/>
            <a:ext cx="5193792" cy="2377440"/>
            <a:chOff x="0" y="0"/>
            <a:chExt cx="6925056" cy="31699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925056" cy="3169920"/>
            </a:xfrm>
            <a:custGeom>
              <a:avLst/>
              <a:gdLst/>
              <a:ahLst/>
              <a:cxnLst/>
              <a:rect l="l" t="t" r="r" b="b"/>
              <a:pathLst>
                <a:path w="6925056" h="3169920">
                  <a:moveTo>
                    <a:pt x="0" y="0"/>
                  </a:moveTo>
                  <a:lnTo>
                    <a:pt x="6925056" y="0"/>
                  </a:lnTo>
                  <a:lnTo>
                    <a:pt x="6925056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730" r="-873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6925056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YOLOv8x / YOLOv8x (Ultralytics) | DeepLabV3+ ResNet-101 |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MiDaS DPT-Large | PyTorch 2.0+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394447" y="5571487"/>
            <a:ext cx="5499097" cy="3395977"/>
            <a:chOff x="0" y="0"/>
            <a:chExt cx="7332129" cy="452796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332091" cy="4527931"/>
            </a:xfrm>
            <a:custGeom>
              <a:avLst/>
              <a:gdLst/>
              <a:ahLst/>
              <a:cxnLst/>
              <a:rect l="l" t="t" r="r" b="b"/>
              <a:pathLst>
                <a:path w="7332091" h="4527931">
                  <a:moveTo>
                    <a:pt x="0" y="0"/>
                  </a:moveTo>
                  <a:lnTo>
                    <a:pt x="7332091" y="0"/>
                  </a:lnTo>
                  <a:lnTo>
                    <a:pt x="73320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388103" y="5565143"/>
            <a:ext cx="5511803" cy="793499"/>
            <a:chOff x="0" y="0"/>
            <a:chExt cx="7349071" cy="105799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349109" cy="1058037"/>
            </a:xfrm>
            <a:custGeom>
              <a:avLst/>
              <a:gdLst/>
              <a:ahLst/>
              <a:cxnLst/>
              <a:rect l="l" t="t" r="r" b="b"/>
              <a:pathLst>
                <a:path w="7349109" h="1058037">
                  <a:moveTo>
                    <a:pt x="0" y="0"/>
                  </a:moveTo>
                  <a:lnTo>
                    <a:pt x="7349109" y="0"/>
                  </a:lnTo>
                  <a:lnTo>
                    <a:pt x="73491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7986CB"/>
            </a:solidFill>
            <a:ln w="25400" cap="sq">
              <a:solidFill>
                <a:srgbClr val="7986CB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6547104" y="5577840"/>
            <a:ext cx="5193792" cy="768096"/>
            <a:chOff x="0" y="0"/>
            <a:chExt cx="6925056" cy="102412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925056" cy="1024128"/>
            </a:xfrm>
            <a:custGeom>
              <a:avLst/>
              <a:gdLst/>
              <a:ahLst/>
              <a:cxnLst/>
              <a:rect l="l" t="t" r="r" b="b"/>
              <a:pathLst>
                <a:path w="6925056" h="1024128">
                  <a:moveTo>
                    <a:pt x="0" y="0"/>
                  </a:moveTo>
                  <a:lnTo>
                    <a:pt x="6925056" y="0"/>
                  </a:lnTo>
                  <a:lnTo>
                    <a:pt x="692505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755" b="-81755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6925056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&amp; DevOps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547104" y="6419088"/>
            <a:ext cx="5193792" cy="2377440"/>
            <a:chOff x="0" y="0"/>
            <a:chExt cx="6925056" cy="31699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925056" cy="3169920"/>
            </a:xfrm>
            <a:custGeom>
              <a:avLst/>
              <a:gdLst/>
              <a:ahLst/>
              <a:cxnLst/>
              <a:rect l="l" t="t" r="r" b="b"/>
              <a:pathLst>
                <a:path w="6925056" h="3169920">
                  <a:moveTo>
                    <a:pt x="0" y="0"/>
                  </a:moveTo>
                  <a:lnTo>
                    <a:pt x="6925056" y="0"/>
                  </a:lnTo>
                  <a:lnTo>
                    <a:pt x="6925056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730" r="-8730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6925056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 / GitHub | pytest + custom simulation frameworks | YAML + PyYAML 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246607" y="5571487"/>
            <a:ext cx="5499097" cy="3395977"/>
            <a:chOff x="0" y="0"/>
            <a:chExt cx="7332129" cy="452796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332091" cy="4527931"/>
            </a:xfrm>
            <a:custGeom>
              <a:avLst/>
              <a:gdLst/>
              <a:ahLst/>
              <a:cxnLst/>
              <a:rect l="l" t="t" r="r" b="b"/>
              <a:pathLst>
                <a:path w="7332091" h="4527931">
                  <a:moveTo>
                    <a:pt x="0" y="0"/>
                  </a:moveTo>
                  <a:lnTo>
                    <a:pt x="7332091" y="0"/>
                  </a:lnTo>
                  <a:lnTo>
                    <a:pt x="7332091" y="4527931"/>
                  </a:lnTo>
                  <a:lnTo>
                    <a:pt x="0" y="452793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2240263" y="5565143"/>
            <a:ext cx="5511803" cy="793499"/>
            <a:chOff x="0" y="0"/>
            <a:chExt cx="7349071" cy="105799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349109" cy="1058037"/>
            </a:xfrm>
            <a:custGeom>
              <a:avLst/>
              <a:gdLst/>
              <a:ahLst/>
              <a:cxnLst/>
              <a:rect l="l" t="t" r="r" b="b"/>
              <a:pathLst>
                <a:path w="7349109" h="1058037">
                  <a:moveTo>
                    <a:pt x="0" y="0"/>
                  </a:moveTo>
                  <a:lnTo>
                    <a:pt x="7349109" y="0"/>
                  </a:lnTo>
                  <a:lnTo>
                    <a:pt x="73491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EF5350"/>
            </a:solidFill>
            <a:ln w="25400" cap="sq">
              <a:solidFill>
                <a:srgbClr val="EF5350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2399264" y="5577840"/>
            <a:ext cx="5193792" cy="768096"/>
            <a:chOff x="0" y="0"/>
            <a:chExt cx="6925056" cy="102412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925056" cy="1024128"/>
            </a:xfrm>
            <a:custGeom>
              <a:avLst/>
              <a:gdLst/>
              <a:ahLst/>
              <a:cxnLst/>
              <a:rect l="l" t="t" r="r" b="b"/>
              <a:pathLst>
                <a:path w="6925056" h="1024128">
                  <a:moveTo>
                    <a:pt x="0" y="0"/>
                  </a:moveTo>
                  <a:lnTo>
                    <a:pt x="6925056" y="0"/>
                  </a:lnTo>
                  <a:lnTo>
                    <a:pt x="6925056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755" b="-8175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6925056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399264" y="6419088"/>
            <a:ext cx="5193792" cy="2377440"/>
            <a:chOff x="0" y="0"/>
            <a:chExt cx="6925056" cy="31699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925056" cy="3169920"/>
            </a:xfrm>
            <a:custGeom>
              <a:avLst/>
              <a:gdLst/>
              <a:ahLst/>
              <a:cxnLst/>
              <a:rect l="l" t="t" r="r" b="b"/>
              <a:pathLst>
                <a:path w="6925056" h="3169920">
                  <a:moveTo>
                    <a:pt x="0" y="0"/>
                  </a:moveTo>
                  <a:lnTo>
                    <a:pt x="6925056" y="0"/>
                  </a:lnTo>
                  <a:lnTo>
                    <a:pt x="6925056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730" r="-873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6925056" cy="3217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HMAC-signed webhook tokens | Source whitelists (preemption) | Append-only audit logs | YAML schema validation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</p:spTree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Contributions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99367" y="1669799"/>
            <a:ext cx="153419" cy="7706363"/>
            <a:chOff x="0" y="0"/>
            <a:chExt cx="204559" cy="102751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597" cy="10275189"/>
            </a:xfrm>
            <a:custGeom>
              <a:avLst/>
              <a:gdLst/>
              <a:ahLst/>
              <a:cxnLst/>
              <a:rect l="l" t="t" r="r" b="b"/>
              <a:pathLst>
                <a:path w="204597" h="10275189">
                  <a:moveTo>
                    <a:pt x="0" y="0"/>
                  </a:moveTo>
                  <a:lnTo>
                    <a:pt x="204597" y="0"/>
                  </a:lnTo>
                  <a:lnTo>
                    <a:pt x="204597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5760" y="1005840"/>
            <a:ext cx="16093440" cy="457200"/>
            <a:chOff x="0" y="0"/>
            <a:chExt cx="21457920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All members participated in: system planning, code reviews, integration testing, and final presentation preparation.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37247" y="2165986"/>
            <a:ext cx="8229600" cy="512064"/>
            <a:chOff x="0" y="0"/>
            <a:chExt cx="10972800" cy="6827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00" cy="682752"/>
            </a:xfrm>
            <a:custGeom>
              <a:avLst/>
              <a:gdLst/>
              <a:ahLst/>
              <a:cxnLst/>
              <a:rect l="l" t="t" r="r" b="b"/>
              <a:pathLst>
                <a:path w="10972800" h="682752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152" b="-26315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5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highlights from the demo: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67538" y="2678050"/>
            <a:ext cx="8033747" cy="4928356"/>
            <a:chOff x="0" y="0"/>
            <a:chExt cx="8730405" cy="535572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30405" cy="5355726"/>
            </a:xfrm>
            <a:custGeom>
              <a:avLst/>
              <a:gdLst/>
              <a:ahLst/>
              <a:cxnLst/>
              <a:rect l="l" t="t" r="r" b="b"/>
              <a:pathLst>
                <a:path w="8730405" h="5355726">
                  <a:moveTo>
                    <a:pt x="0" y="0"/>
                  </a:moveTo>
                  <a:lnTo>
                    <a:pt x="8730405" y="0"/>
                  </a:lnTo>
                  <a:lnTo>
                    <a:pt x="8730405" y="5355726"/>
                  </a:lnTo>
                  <a:lnTo>
                    <a:pt x="0" y="53557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432" r="-25684" b="3959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730405" cy="5403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0860" lvl="1" indent="-265430" algn="l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3-model detection pipeline: YOLOv8 + DeepLabV3+ + MiDaS running in sequence on video frames</a:t>
              </a:r>
            </a:p>
            <a:p>
              <a:pPr marL="530860" lvl="1" indent="-265430" algn="l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Severity-classified pothole detection with automated n8n maintenance alert dispatch</a:t>
              </a:r>
            </a:p>
            <a:p>
              <a:pPr marL="530860" lvl="1" indent="-265430" algn="l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Emergency preemption scenario: FSM transitions to EMERGENCY_OVERRIDE, clears lane, restores normal operation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76013" y="6981949"/>
            <a:ext cx="8229600" cy="512064"/>
            <a:chOff x="0" y="0"/>
            <a:chExt cx="10972800" cy="6827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972800" cy="682752"/>
            </a:xfrm>
            <a:custGeom>
              <a:avLst/>
              <a:gdLst/>
              <a:ahLst/>
              <a:cxnLst/>
              <a:rect l="l" t="t" r="r" b="b"/>
              <a:pathLst>
                <a:path w="10972800" h="682752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152" b="-26315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E5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Demo Link / QR Code: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01684" y="7833865"/>
            <a:ext cx="10291810" cy="914400"/>
            <a:chOff x="0" y="0"/>
            <a:chExt cx="13722414" cy="1219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722414" cy="1219200"/>
            </a:xfrm>
            <a:custGeom>
              <a:avLst/>
              <a:gdLst/>
              <a:ahLst/>
              <a:cxnLst/>
              <a:rect l="l" t="t" r="r" b="b"/>
              <a:pathLst>
                <a:path w="13722414" h="1219200">
                  <a:moveTo>
                    <a:pt x="0" y="0"/>
                  </a:moveTo>
                  <a:lnTo>
                    <a:pt x="13722414" y="0"/>
                  </a:lnTo>
                  <a:lnTo>
                    <a:pt x="1372241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9309" b="-16930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372241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u="sng">
                  <a:solidFill>
                    <a:srgbClr val="0563C1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drive.google.com/drive/folders/1W1W9GIbKBIgqMCQhBviRm8cMClHgXY-C?usp=drive_link"/>
                </a:rPr>
                <a:t>https://drive.google.com/drive/folders/1W1W9GIbKBIgqMCQhBviRm8cMClHgXY-C?usp=drive_link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7002" y="1938528"/>
            <a:ext cx="8341595" cy="4711703"/>
            <a:chOff x="0" y="0"/>
            <a:chExt cx="11122127" cy="62822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122152" cy="6282309"/>
            </a:xfrm>
            <a:custGeom>
              <a:avLst/>
              <a:gdLst/>
              <a:ahLst/>
              <a:cxnLst/>
              <a:rect l="l" t="t" r="r" b="b"/>
              <a:pathLst>
                <a:path w="11122152" h="6282309">
                  <a:moveTo>
                    <a:pt x="0" y="0"/>
                  </a:moveTo>
                  <a:lnTo>
                    <a:pt x="11122152" y="0"/>
                  </a:lnTo>
                  <a:lnTo>
                    <a:pt x="11122152" y="6282309"/>
                  </a:lnTo>
                  <a:lnTo>
                    <a:pt x="0" y="6282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  <p:transition>
    <p:cover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Impact &amp; Innovation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05711" y="1676143"/>
            <a:ext cx="17294857" cy="7693657"/>
            <a:chOff x="0" y="0"/>
            <a:chExt cx="23059809" cy="102582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59771" cy="10258171"/>
            </a:xfrm>
            <a:custGeom>
              <a:avLst/>
              <a:gdLst/>
              <a:ahLst/>
              <a:cxnLst/>
              <a:rect l="l" t="t" r="r" b="b"/>
              <a:pathLst>
                <a:path w="23059771" h="10258171">
                  <a:moveTo>
                    <a:pt x="0" y="0"/>
                  </a:moveTo>
                  <a:lnTo>
                    <a:pt x="23059771" y="0"/>
                  </a:lnTo>
                  <a:lnTo>
                    <a:pt x="23059771" y="10258171"/>
                  </a:lnTo>
                  <a:lnTo>
                    <a:pt x="0" y="102581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99367" y="1669799"/>
            <a:ext cx="153419" cy="7706363"/>
            <a:chOff x="0" y="0"/>
            <a:chExt cx="204559" cy="10275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597" cy="10275189"/>
            </a:xfrm>
            <a:custGeom>
              <a:avLst/>
              <a:gdLst/>
              <a:ahLst/>
              <a:cxnLst/>
              <a:rect l="l" t="t" r="r" b="b"/>
              <a:pathLst>
                <a:path w="204597" h="10275189">
                  <a:moveTo>
                    <a:pt x="0" y="0"/>
                  </a:moveTo>
                  <a:lnTo>
                    <a:pt x="204597" y="0"/>
                  </a:lnTo>
                  <a:lnTo>
                    <a:pt x="204597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05840" y="1864995"/>
            <a:ext cx="16459200" cy="723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Automates pedestrian safety enforcement and removes sidewalk obstructions in dense Egyptian urban environments where manual monitoring cannot scale.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Shifts road maintenance from reactive to proactive: severity-classified pothole data directly maps to municipal repair prioritization, reducing long-term infrastructure costs.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— depth-aware 3-model pipeline: single-model systems generate high false positives from camera perspective distortion; VELORA’s ViolationEngine uses MiDaS depth to eliminate this, achieving significantly lower false positive rates.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Directly supports Egypt Vision 2030: smart city development, digital urban infrastructure, and public safety improvement through AI-driven automation.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architecture supports city-wide deployment, cloud scaling (Azure/AWS), and integration with smart city platforms — all without replacing existing CCTV infrastructure.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Work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12064" y="1536192"/>
            <a:ext cx="17232478" cy="365760"/>
            <a:chOff x="0" y="0"/>
            <a:chExt cx="22976637" cy="487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76639" cy="487680"/>
            </a:xfrm>
            <a:custGeom>
              <a:avLst/>
              <a:gdLst/>
              <a:ahLst/>
              <a:cxnLst/>
              <a:rect l="l" t="t" r="r" b="b"/>
              <a:pathLst>
                <a:path w="22976639" h="487680">
                  <a:moveTo>
                    <a:pt x="0" y="0"/>
                  </a:moveTo>
                  <a:lnTo>
                    <a:pt x="22976639" y="0"/>
                  </a:lnTo>
                  <a:lnTo>
                    <a:pt x="22976639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8021" b="-86802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976637" cy="525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i="1">
                  <a:solidFill>
                    <a:srgbClr val="3747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6 areas apply to VELORA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5711" y="1968751"/>
            <a:ext cx="5499097" cy="3304537"/>
            <a:chOff x="0" y="0"/>
            <a:chExt cx="7332129" cy="44060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32091" cy="4406011"/>
            </a:xfrm>
            <a:custGeom>
              <a:avLst/>
              <a:gdLst/>
              <a:ahLst/>
              <a:cxnLst/>
              <a:rect l="l" t="t" r="r" b="b"/>
              <a:pathLst>
                <a:path w="7332091" h="4406011">
                  <a:moveTo>
                    <a:pt x="0" y="0"/>
                  </a:moveTo>
                  <a:lnTo>
                    <a:pt x="7332091" y="0"/>
                  </a:lnTo>
                  <a:lnTo>
                    <a:pt x="7332091" y="4406011"/>
                  </a:lnTo>
                  <a:lnTo>
                    <a:pt x="0" y="4406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12064" y="1975104"/>
            <a:ext cx="5486400" cy="109728"/>
            <a:chOff x="0" y="0"/>
            <a:chExt cx="7315200" cy="1463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AEE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694944" y="2055495"/>
            <a:ext cx="5122078" cy="312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00AE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Performance &amp; Optimization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RL agent to replace rule-based phase duration calculation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Train on historical congestion sequences from operational deployment using existing simulation harness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210567" y="1968751"/>
            <a:ext cx="5499097" cy="3304537"/>
            <a:chOff x="0" y="0"/>
            <a:chExt cx="7332129" cy="440604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32091" cy="4406011"/>
            </a:xfrm>
            <a:custGeom>
              <a:avLst/>
              <a:gdLst/>
              <a:ahLst/>
              <a:cxnLst/>
              <a:rect l="l" t="t" r="r" b="b"/>
              <a:pathLst>
                <a:path w="7332091" h="4406011">
                  <a:moveTo>
                    <a:pt x="0" y="0"/>
                  </a:moveTo>
                  <a:lnTo>
                    <a:pt x="7332091" y="0"/>
                  </a:lnTo>
                  <a:lnTo>
                    <a:pt x="7332091" y="4406011"/>
                  </a:lnTo>
                  <a:lnTo>
                    <a:pt x="0" y="4406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216910" y="1975104"/>
            <a:ext cx="5486400" cy="109728"/>
            <a:chOff x="0" y="0"/>
            <a:chExt cx="7315200" cy="1463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E5CA8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6399790" y="2055495"/>
            <a:ext cx="5122078" cy="312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1E5C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Enhancement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Multilingual dashboard (Arabic + English) for Egyptian municipal contexts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app for field inspection teams to review and acknowledge pothole and violation alerts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915413" y="1968751"/>
            <a:ext cx="5499097" cy="3304537"/>
            <a:chOff x="0" y="0"/>
            <a:chExt cx="7332129" cy="44060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32091" cy="4406011"/>
            </a:xfrm>
            <a:custGeom>
              <a:avLst/>
              <a:gdLst/>
              <a:ahLst/>
              <a:cxnLst/>
              <a:rect l="l" t="t" r="r" b="b"/>
              <a:pathLst>
                <a:path w="7332091" h="4406011">
                  <a:moveTo>
                    <a:pt x="0" y="0"/>
                  </a:moveTo>
                  <a:lnTo>
                    <a:pt x="7332091" y="0"/>
                  </a:lnTo>
                  <a:lnTo>
                    <a:pt x="7332091" y="4406011"/>
                  </a:lnTo>
                  <a:lnTo>
                    <a:pt x="0" y="4406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1921757" y="1975104"/>
            <a:ext cx="5486400" cy="109728"/>
            <a:chOff x="0" y="0"/>
            <a:chExt cx="7315200" cy="1463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8A84B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2104637" y="2055495"/>
            <a:ext cx="5122078" cy="312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C8A84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Testing &amp; Validation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Broader field testing on live Egyptian road environments beyond recorded footage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Live CCTV stream integration (current version processes pre-recorded footage and images)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05711" y="5406895"/>
            <a:ext cx="5499097" cy="3304537"/>
            <a:chOff x="0" y="0"/>
            <a:chExt cx="7332129" cy="440604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32091" cy="4406011"/>
            </a:xfrm>
            <a:custGeom>
              <a:avLst/>
              <a:gdLst/>
              <a:ahLst/>
              <a:cxnLst/>
              <a:rect l="l" t="t" r="r" b="b"/>
              <a:pathLst>
                <a:path w="7332091" h="4406011">
                  <a:moveTo>
                    <a:pt x="0" y="0"/>
                  </a:moveTo>
                  <a:lnTo>
                    <a:pt x="7332091" y="0"/>
                  </a:lnTo>
                  <a:lnTo>
                    <a:pt x="7332091" y="4406011"/>
                  </a:lnTo>
                  <a:lnTo>
                    <a:pt x="0" y="4406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12064" y="5413248"/>
            <a:ext cx="5486400" cy="109728"/>
            <a:chOff x="0" y="0"/>
            <a:chExt cx="7315200" cy="1463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A8FD4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694944" y="5493639"/>
            <a:ext cx="5122078" cy="312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3A8F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Integration &amp; Deployment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 abstraction layer for physical traffic signal controllers (RS-485, NEMA TS-2, NTCIP)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 emergency preemption hardware integration (Opticom infrared, GPS-based systems)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210567" y="5406895"/>
            <a:ext cx="5499097" cy="3304537"/>
            <a:chOff x="0" y="0"/>
            <a:chExt cx="7332129" cy="440604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32091" cy="4406011"/>
            </a:xfrm>
            <a:custGeom>
              <a:avLst/>
              <a:gdLst/>
              <a:ahLst/>
              <a:cxnLst/>
              <a:rect l="l" t="t" r="r" b="b"/>
              <a:pathLst>
                <a:path w="7332091" h="4406011">
                  <a:moveTo>
                    <a:pt x="0" y="0"/>
                  </a:moveTo>
                  <a:lnTo>
                    <a:pt x="7332091" y="0"/>
                  </a:lnTo>
                  <a:lnTo>
                    <a:pt x="7332091" y="4406011"/>
                  </a:lnTo>
                  <a:lnTo>
                    <a:pt x="0" y="4406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216910" y="5413248"/>
            <a:ext cx="5486400" cy="109728"/>
            <a:chOff x="0" y="0"/>
            <a:chExt cx="7315200" cy="14630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6399790" y="5493639"/>
            <a:ext cx="5122078" cy="312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0280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Scale &amp; Wider Reach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Cloud deployment (Azure/AWS) for multi-city scalable operation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Multi-intersection green wave coordination along arterial corridors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1915413" y="5406895"/>
            <a:ext cx="5499097" cy="3304537"/>
            <a:chOff x="0" y="0"/>
            <a:chExt cx="7332129" cy="440604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332091" cy="4406011"/>
            </a:xfrm>
            <a:custGeom>
              <a:avLst/>
              <a:gdLst/>
              <a:ahLst/>
              <a:cxnLst/>
              <a:rect l="l" t="t" r="r" b="b"/>
              <a:pathLst>
                <a:path w="7332091" h="4406011">
                  <a:moveTo>
                    <a:pt x="0" y="0"/>
                  </a:moveTo>
                  <a:lnTo>
                    <a:pt x="7332091" y="0"/>
                  </a:lnTo>
                  <a:lnTo>
                    <a:pt x="7332091" y="4406011"/>
                  </a:lnTo>
                  <a:lnTo>
                    <a:pt x="0" y="440601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1921757" y="5413248"/>
            <a:ext cx="5486400" cy="109728"/>
            <a:chOff x="0" y="0"/>
            <a:chExt cx="7315200" cy="14630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2D5A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2104637" y="5493639"/>
            <a:ext cx="5122078" cy="312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1A2D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&amp; Impact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Publish findings on depth-aware violation detection and FSM-based adaptive signal control</a:t>
            </a:r>
          </a:p>
          <a:p>
            <a:pPr marL="482600" lvl="1" indent="-2413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Open-source the platform to support research and smart city adoption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Contributions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05711" y="1676143"/>
            <a:ext cx="17294857" cy="7693657"/>
            <a:chOff x="0" y="0"/>
            <a:chExt cx="23059809" cy="102582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59771" cy="10258171"/>
            </a:xfrm>
            <a:custGeom>
              <a:avLst/>
              <a:gdLst/>
              <a:ahLst/>
              <a:cxnLst/>
              <a:rect l="l" t="t" r="r" b="b"/>
              <a:pathLst>
                <a:path w="23059771" h="10258171">
                  <a:moveTo>
                    <a:pt x="0" y="0"/>
                  </a:moveTo>
                  <a:lnTo>
                    <a:pt x="23059771" y="0"/>
                  </a:lnTo>
                  <a:lnTo>
                    <a:pt x="23059771" y="10258171"/>
                  </a:lnTo>
                  <a:lnTo>
                    <a:pt x="0" y="102581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99367" y="1669799"/>
            <a:ext cx="153419" cy="7706363"/>
            <a:chOff x="0" y="0"/>
            <a:chExt cx="204559" cy="10275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597" cy="10275189"/>
            </a:xfrm>
            <a:custGeom>
              <a:avLst/>
              <a:gdLst/>
              <a:ahLst/>
              <a:cxnLst/>
              <a:rect l="l" t="t" r="r" b="b"/>
              <a:pathLst>
                <a:path w="204597" h="10275189">
                  <a:moveTo>
                    <a:pt x="0" y="0"/>
                  </a:moveTo>
                  <a:lnTo>
                    <a:pt x="204597" y="0"/>
                  </a:lnTo>
                  <a:lnTo>
                    <a:pt x="204597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05840" y="1864995"/>
            <a:ext cx="16459200" cy="723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Basma Hassan Qutb — ViolationEngine implementation, YOLOv8 multi-class detection, MiDaS depth pipeline, DeepLabV3+ segmentation, zone calibration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Wesam Fathy Masoud Omar — Cairo street footage dataset collection &amp; annotation, Egyptian road damage dataset, YOLOv8- fine-tuning, traffic density model, model evaluation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Tasneem Faisal Makhlouf — LaneOrchestrator FSM design, asyncio pipeline, congestion-based phase duration algorithm, pedestrian constraint enforcer, emergency preemption protocol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Habiba Adel Saleh — LaneOrchestrator FSM implementation, ConfigLoader integration, simulation test environment, audit logging system, pytest test suite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Salma Mahmoud Abdelhaleem — Streamlit authority dashboard (frontend + backend), violation model contributions, end-to-end integration testing, performance benchmarking, demo video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members participated in: planning, code reviews, testing, and final integration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65760" y="1005840"/>
            <a:ext cx="16093440" cy="457200"/>
            <a:chOff x="0" y="0"/>
            <a:chExt cx="21457920" cy="60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All members participated in: system planning, code reviews, integration testing, and final presentation preparation.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16487" y="-12697"/>
            <a:ext cx="17984219" cy="1525019"/>
            <a:chOff x="0" y="0"/>
            <a:chExt cx="23978959" cy="20333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78997" cy="2033397"/>
            </a:xfrm>
            <a:custGeom>
              <a:avLst/>
              <a:gdLst/>
              <a:ahLst/>
              <a:cxnLst/>
              <a:rect l="l" t="t" r="r" b="b"/>
              <a:pathLst>
                <a:path w="23978997" h="2033397">
                  <a:moveTo>
                    <a:pt x="0" y="0"/>
                  </a:moveTo>
                  <a:lnTo>
                    <a:pt x="23978997" y="0"/>
                  </a:lnTo>
                  <a:lnTo>
                    <a:pt x="23978997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0080" y="91440"/>
            <a:ext cx="16093440" cy="1316736"/>
            <a:chOff x="0" y="0"/>
            <a:chExt cx="21457920" cy="1755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55648"/>
            </a:xfrm>
            <a:custGeom>
              <a:avLst/>
              <a:gdLst/>
              <a:ahLst/>
              <a:cxnLst/>
              <a:rect l="l" t="t" r="r" b="b"/>
              <a:pathLst>
                <a:path w="21457920" h="1755648">
                  <a:moveTo>
                    <a:pt x="0" y="0"/>
                  </a:moveTo>
                  <a:lnTo>
                    <a:pt x="21457920" y="0"/>
                  </a:lnTo>
                  <a:lnTo>
                    <a:pt x="214579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214579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 &amp; Resources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07840" y="128016"/>
            <a:ext cx="1005840" cy="1005840"/>
            <a:chOff x="0" y="0"/>
            <a:chExt cx="1341120" cy="134112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05711" y="1676143"/>
            <a:ext cx="8333737" cy="7693657"/>
            <a:chOff x="0" y="0"/>
            <a:chExt cx="11111649" cy="102582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11611" cy="10258171"/>
            </a:xfrm>
            <a:custGeom>
              <a:avLst/>
              <a:gdLst/>
              <a:ahLst/>
              <a:cxnLst/>
              <a:rect l="l" t="t" r="r" b="b"/>
              <a:pathLst>
                <a:path w="11111611" h="10258171">
                  <a:moveTo>
                    <a:pt x="0" y="0"/>
                  </a:moveTo>
                  <a:lnTo>
                    <a:pt x="11111611" y="0"/>
                  </a:lnTo>
                  <a:lnTo>
                    <a:pt x="11111611" y="10258171"/>
                  </a:lnTo>
                  <a:lnTo>
                    <a:pt x="0" y="102581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99367" y="1669799"/>
            <a:ext cx="153419" cy="7706363"/>
            <a:chOff x="0" y="0"/>
            <a:chExt cx="204559" cy="10275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597" cy="10275189"/>
            </a:xfrm>
            <a:custGeom>
              <a:avLst/>
              <a:gdLst/>
              <a:ahLst/>
              <a:cxnLst/>
              <a:rect l="l" t="t" r="r" b="b"/>
              <a:pathLst>
                <a:path w="204597" h="10275189">
                  <a:moveTo>
                    <a:pt x="0" y="0"/>
                  </a:moveTo>
                  <a:lnTo>
                    <a:pt x="204597" y="0"/>
                  </a:lnTo>
                  <a:lnTo>
                    <a:pt x="204597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22960" y="1719072"/>
            <a:ext cx="7680960" cy="694944"/>
            <a:chOff x="0" y="0"/>
            <a:chExt cx="10241280" cy="9265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E5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&amp; Technical References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0263" y="2401319"/>
            <a:ext cx="7706363" cy="71123"/>
            <a:chOff x="0" y="0"/>
            <a:chExt cx="10275151" cy="948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75189" cy="94869"/>
            </a:xfrm>
            <a:custGeom>
              <a:avLst/>
              <a:gdLst/>
              <a:ahLst/>
              <a:cxnLst/>
              <a:rect l="l" t="t" r="r" b="b"/>
              <a:pathLst>
                <a:path w="10275189" h="94869">
                  <a:moveTo>
                    <a:pt x="0" y="0"/>
                  </a:moveTo>
                  <a:lnTo>
                    <a:pt x="10275189" y="0"/>
                  </a:lnTo>
                  <a:lnTo>
                    <a:pt x="1027518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3A8FD4"/>
            </a:solidFill>
            <a:ln w="25400" cap="sq">
              <a:solidFill>
                <a:srgbClr val="3A8FD4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14400" y="2559939"/>
            <a:ext cx="7498080" cy="631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Ranftl et al. — Towards Robust Monocular Depth Estimation (Intel ISL) — MiDaS foundation paper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 et al. — Rethinking Atrous Convolution for Semantic Image Segmentation — DeepLabV3+ foundation paper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Webster, F.V. — Traffic Signal Settings, Road Research Technical Paper No. 39 — Signal timing theory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Ultralytics YOLOv8 Documentation — Primary object detection framework. https://docs.ultralytics.com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48543" y="1676143"/>
            <a:ext cx="8333737" cy="7693657"/>
            <a:chOff x="0" y="0"/>
            <a:chExt cx="11111649" cy="102582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111611" cy="10258171"/>
            </a:xfrm>
            <a:custGeom>
              <a:avLst/>
              <a:gdLst/>
              <a:ahLst/>
              <a:cxnLst/>
              <a:rect l="l" t="t" r="r" b="b"/>
              <a:pathLst>
                <a:path w="11111611" h="10258171">
                  <a:moveTo>
                    <a:pt x="0" y="0"/>
                  </a:moveTo>
                  <a:lnTo>
                    <a:pt x="11111611" y="0"/>
                  </a:lnTo>
                  <a:lnTo>
                    <a:pt x="11111611" y="10258171"/>
                  </a:lnTo>
                  <a:lnTo>
                    <a:pt x="0" y="10258171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B0BEC5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442199" y="1669799"/>
            <a:ext cx="153419" cy="7706363"/>
            <a:chOff x="0" y="0"/>
            <a:chExt cx="204559" cy="102751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4597" cy="10275189"/>
            </a:xfrm>
            <a:custGeom>
              <a:avLst/>
              <a:gdLst/>
              <a:ahLst/>
              <a:cxnLst/>
              <a:rect l="l" t="t" r="r" b="b"/>
              <a:pathLst>
                <a:path w="204597" h="10275189">
                  <a:moveTo>
                    <a:pt x="0" y="0"/>
                  </a:moveTo>
                  <a:lnTo>
                    <a:pt x="204597" y="0"/>
                  </a:lnTo>
                  <a:lnTo>
                    <a:pt x="204597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784080" y="1719072"/>
            <a:ext cx="7680960" cy="694944"/>
            <a:chOff x="0" y="0"/>
            <a:chExt cx="10241280" cy="926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E5C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Tools, Datasets &amp; Repositories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1383" y="2401319"/>
            <a:ext cx="7706363" cy="71123"/>
            <a:chOff x="0" y="0"/>
            <a:chExt cx="10275151" cy="9483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275189" cy="94869"/>
            </a:xfrm>
            <a:custGeom>
              <a:avLst/>
              <a:gdLst/>
              <a:ahLst/>
              <a:cxnLst/>
              <a:rect l="l" t="t" r="r" b="b"/>
              <a:pathLst>
                <a:path w="10275189" h="94869">
                  <a:moveTo>
                    <a:pt x="0" y="0"/>
                  </a:moveTo>
                  <a:lnTo>
                    <a:pt x="10275189" y="0"/>
                  </a:lnTo>
                  <a:lnTo>
                    <a:pt x="10275189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9875520" y="2521839"/>
            <a:ext cx="7498080" cy="635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7474F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Repository: </a:t>
            </a:r>
            <a:r>
              <a:rPr lang="en-US" sz="2200" b="1" u="sng">
                <a:solidFill>
                  <a:srgbClr val="0563C1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4" tooltip="https://github.com/tasneemfaisal08/VELORA-Violation-Evaluation-and-Lane-Orchestration-for-Real-time-Road-Automation"/>
              </a:rPr>
              <a:t>https://github.com/tasneemfaisal08/VELORA-Violation-Evaluation-and-Lane-Orchestration-for-Real-time-Road-Automation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200" b="1" u="sng">
              <a:solidFill>
                <a:srgbClr val="0563C1"/>
              </a:solidFill>
              <a:latin typeface="Calibri (MS) Bold"/>
              <a:ea typeface="Calibri (MS) Bold"/>
              <a:cs typeface="Calibri (MS) Bold"/>
              <a:sym typeface="Calibri (MS) Bold"/>
              <a:hlinkClick r:id="rId4" tooltip="https://github.com/tasneemfaisal08/VELORA-Violation-Evaluation-and-Lane-Orchestration-for-Real-time-Road-Automatio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Datasets: BDD100K (urban scene detection), RDD2022 (road damage), custom Egyptian road footage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>
              <a:solidFill>
                <a:srgbClr val="3747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/ Dashboard: </a:t>
            </a:r>
            <a:r>
              <a:rPr lang="en-US" sz="2400" u="sng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drive.google.com/drive/folders/1W1W9GIbKBIgqMCQhBviRm8cMClHgXY-C"/>
              </a:rPr>
              <a:t>https://drive.google.com/drive/folders/1W1W9GIbKBIgqMCQhBviRm8cMClHgXY-C</a:t>
            </a:r>
          </a:p>
          <a:p>
            <a:pPr marL="579120" lvl="1" indent="-289560" algn="l">
              <a:lnSpc>
                <a:spcPts val="2879"/>
              </a:lnSpc>
            </a:pPr>
            <a:endParaRPr lang="en-US" sz="2400" u="sng">
              <a:solidFill>
                <a:srgbClr val="0563C1"/>
              </a:solidFill>
              <a:latin typeface="Times New Roman"/>
              <a:ea typeface="Times New Roman"/>
              <a:cs typeface="Times New Roman"/>
              <a:sym typeface="Times New Roman"/>
              <a:hlinkClick r:id="rId5" tooltip="https://drive.google.com/drive/folders/1W1W9GIbKBIgqMCQhBviRm8cMClHgXY-C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747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Frameworks: PyTorch (pytorch.org/docs) | OpenCV (docs.opencv.org) | n8n (docs.n8n.io)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14400" y="8869680"/>
            <a:ext cx="16093440" cy="457200"/>
            <a:chOff x="0" y="0"/>
            <a:chExt cx="21457920" cy="609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457920" cy="609600"/>
            </a:xfrm>
            <a:custGeom>
              <a:avLst/>
              <a:gdLst/>
              <a:ahLst/>
              <a:cxnLst/>
              <a:rect l="l" t="t" r="r" b="b"/>
              <a:pathLst>
                <a:path w="21457920" h="609600">
                  <a:moveTo>
                    <a:pt x="0" y="0"/>
                  </a:moveTo>
                  <a:lnTo>
                    <a:pt x="21457920" y="0"/>
                  </a:lnTo>
                  <a:lnTo>
                    <a:pt x="2145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5873" b="-63587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145792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B0BEC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All references cited in the full project documentation. See References section (Section 20) for complete list.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-12697" y="9588503"/>
            <a:ext cx="18313403" cy="711203"/>
            <a:chOff x="0" y="0"/>
            <a:chExt cx="24417871" cy="9482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417910" cy="948309"/>
            </a:xfrm>
            <a:custGeom>
              <a:avLst/>
              <a:gdLst/>
              <a:ahLst/>
              <a:cxnLst/>
              <a:rect l="l" t="t" r="r" b="b"/>
              <a:pathLst>
                <a:path w="24417910" h="948309">
                  <a:moveTo>
                    <a:pt x="0" y="0"/>
                  </a:moveTo>
                  <a:lnTo>
                    <a:pt x="24417910" y="0"/>
                  </a:lnTo>
                  <a:lnTo>
                    <a:pt x="24417910" y="948309"/>
                  </a:lnTo>
                  <a:lnTo>
                    <a:pt x="0" y="948309"/>
                  </a:lnTo>
                  <a:close/>
                </a:path>
              </a:pathLst>
            </a:custGeom>
            <a:solidFill>
              <a:srgbClr val="1A2D5A"/>
            </a:solidFill>
            <a:ln w="25400" cap="sq">
              <a:solidFill>
                <a:srgbClr val="1A2D5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274320" y="9619488"/>
            <a:ext cx="15544800" cy="603504"/>
            <a:chOff x="0" y="0"/>
            <a:chExt cx="20726400" cy="804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726400" cy="804672"/>
            </a:xfrm>
            <a:custGeom>
              <a:avLst/>
              <a:gdLst/>
              <a:ahLst/>
              <a:cxnLst/>
              <a:rect l="l" t="t" r="r" b="b"/>
              <a:pathLst>
                <a:path w="20726400" h="804672">
                  <a:moveTo>
                    <a:pt x="0" y="0"/>
                  </a:moveTo>
                  <a:lnTo>
                    <a:pt x="20726400" y="0"/>
                  </a:lnTo>
                  <a:lnTo>
                    <a:pt x="20726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887" b="-451887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20726400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373600" y="9619488"/>
            <a:ext cx="731520" cy="603504"/>
            <a:chOff x="0" y="0"/>
            <a:chExt cx="975360" cy="8046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75360" cy="804672"/>
            </a:xfrm>
            <a:custGeom>
              <a:avLst/>
              <a:gdLst/>
              <a:ahLst/>
              <a:cxnLst/>
              <a:rect l="l" t="t" r="r" b="b"/>
              <a:pathLst>
                <a:path w="975360" h="804672">
                  <a:moveTo>
                    <a:pt x="0" y="0"/>
                  </a:moveTo>
                  <a:lnTo>
                    <a:pt x="975360" y="0"/>
                  </a:lnTo>
                  <a:lnTo>
                    <a:pt x="9753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850" r="-5585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7536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AE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</a:t>
              </a:r>
            </a:p>
          </p:txBody>
        </p:sp>
      </p:grpSp>
    </p:spTree>
  </p:cSld>
  <p:clrMapOvr>
    <a:masterClrMapping/>
  </p:clrMapOvr>
  <p:transition>
    <p:circl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354587" cy="10312403"/>
            <a:chOff x="0" y="0"/>
            <a:chExt cx="47278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2821" cy="13749910"/>
            </a:xfrm>
            <a:custGeom>
              <a:avLst/>
              <a:gdLst/>
              <a:ahLst/>
              <a:cxnLst/>
              <a:rect l="l" t="t" r="r" b="b"/>
              <a:pathLst>
                <a:path w="472821" h="13749910">
                  <a:moveTo>
                    <a:pt x="0" y="0"/>
                  </a:moveTo>
                  <a:lnTo>
                    <a:pt x="472821" y="0"/>
                  </a:lnTo>
                  <a:lnTo>
                    <a:pt x="47282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12697" y="10173719"/>
            <a:ext cx="18313403" cy="125987"/>
            <a:chOff x="0" y="0"/>
            <a:chExt cx="24417871" cy="1679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17910" cy="168021"/>
            </a:xfrm>
            <a:custGeom>
              <a:avLst/>
              <a:gdLst/>
              <a:ahLst/>
              <a:cxnLst/>
              <a:rect l="l" t="t" r="r" b="b"/>
              <a:pathLst>
                <a:path w="24417910" h="168021">
                  <a:moveTo>
                    <a:pt x="0" y="0"/>
                  </a:moveTo>
                  <a:lnTo>
                    <a:pt x="24417910" y="0"/>
                  </a:lnTo>
                  <a:lnTo>
                    <a:pt x="24417910" y="168021"/>
                  </a:lnTo>
                  <a:lnTo>
                    <a:pt x="0" y="168021"/>
                  </a:lnTo>
                  <a:close/>
                </a:path>
              </a:pathLst>
            </a:custGeom>
            <a:solidFill>
              <a:srgbClr val="C8A84B"/>
            </a:solidFill>
            <a:ln w="25400" cap="sq">
              <a:solidFill>
                <a:srgbClr val="C8A84B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560320" y="365760"/>
            <a:ext cx="1645920" cy="1645920"/>
            <a:chOff x="0" y="0"/>
            <a:chExt cx="2194560" cy="219456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7" r="-60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55280" y="274320"/>
            <a:ext cx="2377440" cy="2011680"/>
            <a:chOff x="0" y="0"/>
            <a:chExt cx="3169920" cy="268224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3169920" cy="2682240"/>
            </a:xfrm>
            <a:custGeom>
              <a:avLst/>
              <a:gdLst/>
              <a:ahLst/>
              <a:cxnLst/>
              <a:rect l="l" t="t" r="r" b="b"/>
              <a:pathLst>
                <a:path w="3169920" h="2682240">
                  <a:moveTo>
                    <a:pt x="0" y="0"/>
                  </a:moveTo>
                  <a:lnTo>
                    <a:pt x="3169920" y="0"/>
                  </a:lnTo>
                  <a:lnTo>
                    <a:pt x="3169920" y="2682240"/>
                  </a:lnTo>
                  <a:lnTo>
                    <a:pt x="0" y="268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090" b="-909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350240" y="457200"/>
            <a:ext cx="2743200" cy="1463040"/>
            <a:chOff x="0" y="0"/>
            <a:chExt cx="3657600" cy="195072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3657600" cy="1950720"/>
            </a:xfrm>
            <a:custGeom>
              <a:avLst/>
              <a:gdLst/>
              <a:ahLst/>
              <a:cxnLst/>
              <a:rect l="l" t="t" r="r" b="b"/>
              <a:pathLst>
                <a:path w="3657600" h="195072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34" b="-273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444503" y="2456183"/>
            <a:ext cx="17399003" cy="71123"/>
            <a:chOff x="0" y="0"/>
            <a:chExt cx="23198671" cy="948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198710" cy="94869"/>
            </a:xfrm>
            <a:custGeom>
              <a:avLst/>
              <a:gdLst/>
              <a:ahLst/>
              <a:cxnLst/>
              <a:rect l="l" t="t" r="r" b="b"/>
              <a:pathLst>
                <a:path w="23198710" h="94869">
                  <a:moveTo>
                    <a:pt x="0" y="0"/>
                  </a:moveTo>
                  <a:lnTo>
                    <a:pt x="23198710" y="0"/>
                  </a:lnTo>
                  <a:lnTo>
                    <a:pt x="23198710" y="94869"/>
                  </a:lnTo>
                  <a:lnTo>
                    <a:pt x="0" y="9486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48640" y="3202943"/>
            <a:ext cx="17190720" cy="2011680"/>
            <a:chOff x="0" y="0"/>
            <a:chExt cx="22920960" cy="26822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920961" cy="2682240"/>
            </a:xfrm>
            <a:custGeom>
              <a:avLst/>
              <a:gdLst/>
              <a:ahLst/>
              <a:cxnLst/>
              <a:rect l="l" t="t" r="r" b="b"/>
              <a:pathLst>
                <a:path w="22920961" h="2682240">
                  <a:moveTo>
                    <a:pt x="0" y="0"/>
                  </a:moveTo>
                  <a:lnTo>
                    <a:pt x="22920961" y="0"/>
                  </a:lnTo>
                  <a:lnTo>
                    <a:pt x="229209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16508" b="-11650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209550"/>
              <a:ext cx="22920960" cy="2891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480"/>
                </a:lnSpc>
              </a:pPr>
              <a:r>
                <a:rPr lang="en-US" sz="10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33037" y="5386073"/>
            <a:ext cx="12821917" cy="3219440"/>
            <a:chOff x="0" y="0"/>
            <a:chExt cx="17095889" cy="42925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095851" cy="4292543"/>
            </a:xfrm>
            <a:custGeom>
              <a:avLst/>
              <a:gdLst/>
              <a:ahLst/>
              <a:cxnLst/>
              <a:rect l="l" t="t" r="r" b="b"/>
              <a:pathLst>
                <a:path w="17095851" h="4292543">
                  <a:moveTo>
                    <a:pt x="0" y="0"/>
                  </a:moveTo>
                  <a:lnTo>
                    <a:pt x="17095851" y="0"/>
                  </a:lnTo>
                  <a:lnTo>
                    <a:pt x="17095851" y="4292543"/>
                  </a:lnTo>
                  <a:lnTo>
                    <a:pt x="0" y="4292543"/>
                  </a:lnTo>
                  <a:close/>
                </a:path>
              </a:pathLst>
            </a:custGeom>
            <a:solidFill>
              <a:srgbClr val="0D1F3F"/>
            </a:solidFill>
            <a:ln w="2032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730503" y="5386073"/>
            <a:ext cx="178543" cy="3221993"/>
            <a:chOff x="0" y="0"/>
            <a:chExt cx="204559" cy="36914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4597" cy="3691509"/>
            </a:xfrm>
            <a:custGeom>
              <a:avLst/>
              <a:gdLst/>
              <a:ahLst/>
              <a:cxnLst/>
              <a:rect l="l" t="t" r="r" b="b"/>
              <a:pathLst>
                <a:path w="204597" h="3691509">
                  <a:moveTo>
                    <a:pt x="0" y="0"/>
                  </a:moveTo>
                  <a:lnTo>
                    <a:pt x="204597" y="0"/>
                  </a:lnTo>
                  <a:lnTo>
                    <a:pt x="204597" y="3691509"/>
                  </a:lnTo>
                  <a:lnTo>
                    <a:pt x="0" y="3691509"/>
                  </a:lnTo>
                  <a:close/>
                </a:path>
              </a:pathLst>
            </a:custGeom>
            <a:solidFill>
              <a:srgbClr val="00AEEF"/>
            </a:solidFill>
            <a:ln w="25400" cap="sq">
              <a:solidFill>
                <a:srgbClr val="00AEE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108955" y="5662298"/>
            <a:ext cx="12070080" cy="731520"/>
            <a:chOff x="0" y="0"/>
            <a:chExt cx="1609344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093439" cy="975360"/>
            </a:xfrm>
            <a:custGeom>
              <a:avLst/>
              <a:gdLst/>
              <a:ahLst/>
              <a:cxnLst/>
              <a:rect l="l" t="t" r="r" b="b"/>
              <a:pathLst>
                <a:path w="16093439" h="975360">
                  <a:moveTo>
                    <a:pt x="0" y="0"/>
                  </a:moveTo>
                  <a:lnTo>
                    <a:pt x="16093439" y="0"/>
                  </a:lnTo>
                  <a:lnTo>
                    <a:pt x="160934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71503" b="-27150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609344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Name:      5G — Digilians VELORA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08955" y="6492245"/>
            <a:ext cx="12070080" cy="731520"/>
            <a:chOff x="0" y="0"/>
            <a:chExt cx="1609344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093439" cy="975360"/>
            </a:xfrm>
            <a:custGeom>
              <a:avLst/>
              <a:gdLst/>
              <a:ahLst/>
              <a:cxnLst/>
              <a:rect l="l" t="t" r="r" b="b"/>
              <a:pathLst>
                <a:path w="16093439" h="975360">
                  <a:moveTo>
                    <a:pt x="0" y="0"/>
                  </a:moveTo>
                  <a:lnTo>
                    <a:pt x="16093439" y="0"/>
                  </a:lnTo>
                  <a:lnTo>
                    <a:pt x="160934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71503" b="-2715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609344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Track:               AI &amp; Data Science / Microsoft Machine Learning Developer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108955" y="7168897"/>
            <a:ext cx="12070080" cy="1108583"/>
            <a:chOff x="0" y="0"/>
            <a:chExt cx="16093440" cy="14781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093439" cy="1478111"/>
            </a:xfrm>
            <a:custGeom>
              <a:avLst/>
              <a:gdLst/>
              <a:ahLst/>
              <a:cxnLst/>
              <a:rect l="l" t="t" r="r" b="b"/>
              <a:pathLst>
                <a:path w="16093439" h="1478111">
                  <a:moveTo>
                    <a:pt x="0" y="0"/>
                  </a:moveTo>
                  <a:lnTo>
                    <a:pt x="16093439" y="0"/>
                  </a:lnTo>
                  <a:lnTo>
                    <a:pt x="16093439" y="1478111"/>
                  </a:lnTo>
                  <a:lnTo>
                    <a:pt x="0" y="14781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79156" b="-14514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6093440" cy="1525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0AE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GitHub: </a:t>
              </a:r>
              <a:r>
                <a:rPr lang="en-US" sz="2200" u="sng">
                  <a:solidFill>
                    <a:srgbClr val="00AEE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6" tooltip="https://github.com/tasneemfaisal08/VELORA-Violation-Evaluation-and-Lane-Orchestration-for-Real-time-Road-Automation"/>
                </a:rPr>
                <a:t>https://github.com/tasneemfaisal08/VELORA-Violation-Evaluation-and-Lane-Orchestration-for-Real-time-Road-Automation</a:t>
              </a:r>
              <a:r>
                <a:rPr lang="en-US" sz="2200">
                  <a:solidFill>
                    <a:srgbClr val="00AE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| Demo: https://drive.google.com/drive/folders/1W1W9GIbKBIgqMCQhBviRm8cMClHgXY-C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8640" y="9052560"/>
            <a:ext cx="17190720" cy="640080"/>
            <a:chOff x="0" y="0"/>
            <a:chExt cx="22920960" cy="853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920961" cy="853440"/>
            </a:xfrm>
            <a:custGeom>
              <a:avLst/>
              <a:gdLst/>
              <a:ahLst/>
              <a:cxnLst/>
              <a:rect l="l" t="t" r="r" b="b"/>
              <a:pathLst>
                <a:path w="22920961" h="853440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73312" b="-47331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292096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DiGiLiANS — Digital Pioneers Initiative  |  Capstone Project Defense 2026</a:t>
              </a:r>
            </a:p>
          </p:txBody>
        </p:sp>
      </p:grp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1916</Words>
  <Application>Microsoft Office PowerPoint</Application>
  <PresentationFormat>Custom</PresentationFormat>
  <Paragraphs>246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Times New Roman Italics</vt:lpstr>
      <vt:lpstr>Calibri (MS) Italics</vt:lpstr>
      <vt:lpstr>Times New Roman</vt:lpstr>
      <vt:lpstr>Canva Sans</vt:lpstr>
      <vt:lpstr>Calibri (MS) Bold</vt:lpstr>
      <vt:lpstr>Times New Roman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</dc:title>
  <dc:creator>Admin</dc:creator>
  <cp:lastModifiedBy>Admin</cp:lastModifiedBy>
  <cp:revision>2</cp:revision>
  <dcterms:created xsi:type="dcterms:W3CDTF">2006-08-16T00:00:00Z</dcterms:created>
  <dcterms:modified xsi:type="dcterms:W3CDTF">2026-06-16T14:46:44Z</dcterms:modified>
  <dc:identifier>DAHMvRKaE2M</dc:identifier>
</cp:coreProperties>
</file>